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This is a Track 1 submission for the AMD Developer Hackathon ACT II. In one line: the agent answers as many tasks as it can on a free local model, and only escalates to the paid Fireworks API the ones it can prove the local model got wrong. Hold the three numbers up: eight categories, zero cost for local answers, ten-minute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mental model. Two gates. First accuracy — and it's binary and brutal: below the line and you score nothing at all. Second, token count, ascending. The twist that reframes everything: tokens on a local model in the container are free. So this is an arbitrage problem — a time budget locally versus a token budget remotely.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use RouteLLM or semantic-router? Because those optimize dollar cost and route blind — they never verify the answer. Both are wrong here: our cheap tier is free, not cheaper, and our whole edge is knowing when the local answer is good enough to keep. So instead: classify for free, generate locally for free, verify deterministically, and escalate only the proven failures. Remote tokens get spent only where we can prove the local model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to remember. Math and logic are where a small model produces confident nonsense, and a naive arithmetic re-check would wave a wrong setup straight through — which is exactly what fails the accuracy gate. So generate twice: once deterministic, once with noise. A genuinely understood problem reproduces its own answer; a lucky guess usually doesn't. Agree, keep it for free. Disagree, escalate. Trade a few tokens to protect the gate — because tokens cost rank, but a gate failure costs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supporting decisions. One: when we do escalate language tasks, we route to Gemma to stay eligible for the thousand-dollar sub-prize, while hard tasks go to the strongest model. Two: reasoning models are banned — their thinking tokens are billed output, fatal on a token-scored track. Three: the agent probes its own speed at startup and degrades — slow box moves hard tasks remote, no local model at all flips it to pure Fireworks. Four: portable build, always writes valid output, never crashes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placement policy. Every category starts local. The verification column is the free deterministic check that decides whether to keep the answer. Note the two categories marked times-two — math and logic — those are the agreement-guarded ones. Everything else keeps the local answer whenever its structural check passes, and escalates only on a concrete, detectable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task's journey, left to right. Read the batch, classify for free, solve locally, verify. If it passes, we keep it — zero tokens. If it fails, exactly one minimal remote call, temperature zero, tokens capped, routed to Gemma or the strongest model by category. At the end everything is written atomically and the container exits clean, well inside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means naming your own risks. Three things are genuinely unknown at build time, and each has a built-in answer. Hardware is unpublished — so we probe and degrade. Whether local is fully allowed has one ambiguous line — so a pure-remote fallback ships behind a switch, confirmed on Discord day-of. The model list drops on launch day — so nothing is hardcoded; models are parsed and ranked at runtime. These aren't oversights. They're why the design is adaptive.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together: on the token axis, most tasks never leave the container, remote calls happen only on proven failures, prompts are minimal and capped, and reasoning models are banned so no stray tokens leak in. On the accuracy axis, every answer we keep has passed a real check, math and logic are agreement-guarded, genuine failures escalate to strong models, and we always ship valid output so the run is scoreable. Both axes,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The whole design comes from taking the scoring seriously: it measures remote tokens avoided without failing the accuracy gate. So answer what you can prove correct for free, escalate only verified failures, guard the gate where it breaks, and stay robust to an unseen environment. That's the submission.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2F"/>
        </a:solidFill>
      </p:bgPr>
    </p:bg>
    <p:spTree>
      <p:nvGrpSpPr>
        <p:cNvPr id="1" name=""/>
        <p:cNvGrpSpPr/>
        <p:nvPr/>
      </p:nvGrpSpPr>
      <p:grpSpPr>
        <a:xfrm>
          <a:off x="0" y="0"/>
          <a:ext cx="0" cy="0"/>
          <a:chOff x="0" y="0"/>
          <a:chExt cx="0" cy="0"/>
        </a:xfrm>
      </p:grpSpPr>
      <p:sp>
        <p:nvSpPr>
          <p:cNvPr id="2" name="Shape 0"/>
          <p:cNvSpPr/>
          <p:nvPr/>
        </p:nvSpPr>
        <p:spPr>
          <a:xfrm>
            <a:off x="8074152" y="-1005840"/>
            <a:ext cx="3840480" cy="3840480"/>
          </a:xfrm>
          <a:prstGeom prst="ellipse">
            <a:avLst/>
          </a:prstGeom>
          <a:solidFill>
            <a:srgbClr val="1C7293">
              <a:alpha val="12000"/>
            </a:srgbClr>
          </a:solidFill>
          <a:ln/>
        </p:spPr>
      </p:sp>
      <p:sp>
        <p:nvSpPr>
          <p:cNvPr id="3" name="Shape 1"/>
          <p:cNvSpPr/>
          <p:nvPr/>
        </p:nvSpPr>
        <p:spPr>
          <a:xfrm>
            <a:off x="8531352" y="-548640"/>
            <a:ext cx="2926080" cy="2926080"/>
          </a:xfrm>
          <a:prstGeom prst="ellipse">
            <a:avLst/>
          </a:prstGeom>
          <a:solidFill>
            <a:srgbClr val="1C7293">
              <a:alpha val="9000"/>
            </a:srgbClr>
          </a:solidFill>
          <a:ln/>
        </p:spPr>
      </p:sp>
      <p:sp>
        <p:nvSpPr>
          <p:cNvPr id="4" name="Shape 2"/>
          <p:cNvSpPr/>
          <p:nvPr/>
        </p:nvSpPr>
        <p:spPr>
          <a:xfrm>
            <a:off x="8988552" y="-91440"/>
            <a:ext cx="2011680" cy="2011680"/>
          </a:xfrm>
          <a:prstGeom prst="ellipse">
            <a:avLst/>
          </a:prstGeom>
          <a:solidFill>
            <a:srgbClr val="1C7293">
              <a:alpha val="6000"/>
            </a:srgbClr>
          </a:solidFill>
          <a:ln/>
        </p:spPr>
      </p:sp>
      <p:sp>
        <p:nvSpPr>
          <p:cNvPr id="5" name="Text 3"/>
          <p:cNvSpPr/>
          <p:nvPr/>
        </p:nvSpPr>
        <p:spPr>
          <a:xfrm>
            <a:off x="731520" y="1554480"/>
            <a:ext cx="10058400" cy="365760"/>
          </a:xfrm>
          <a:prstGeom prst="rect">
            <a:avLst/>
          </a:prstGeom>
          <a:noFill/>
          <a:ln/>
        </p:spPr>
        <p:txBody>
          <a:bodyPr wrap="square" lIns="0" tIns="0" rIns="0" bIns="0" rtlCol="0" anchor="ctr"/>
          <a:lstStyle/>
          <a:p>
            <a:pPr indent="0" marL="0">
              <a:buNone/>
            </a:pPr>
            <a:r>
              <a:rPr lang="en-US" sz="1500" b="1" spc="300" kern="0" dirty="0">
                <a:solidFill>
                  <a:srgbClr val="2EC4B6"/>
                </a:solidFill>
                <a:latin typeface="Calibri" pitchFamily="34" charset="0"/>
                <a:ea typeface="Calibri" pitchFamily="34" charset="-122"/>
                <a:cs typeface="Calibri" pitchFamily="34" charset="-120"/>
              </a:rPr>
              <a:t>AMD DEVELOPER HACKATHON · ACT II — TRACK 1</a:t>
            </a:r>
            <a:endParaRPr lang="en-US" sz="1500" dirty="0"/>
          </a:p>
        </p:txBody>
      </p:sp>
      <p:sp>
        <p:nvSpPr>
          <p:cNvPr id="6" name="Text 4"/>
          <p:cNvSpPr/>
          <p:nvPr/>
        </p:nvSpPr>
        <p:spPr>
          <a:xfrm>
            <a:off x="731520" y="2057400"/>
            <a:ext cx="10607040" cy="1828800"/>
          </a:xfrm>
          <a:prstGeom prst="rect">
            <a:avLst/>
          </a:prstGeom>
          <a:noFill/>
          <a:ln/>
        </p:spPr>
        <p:txBody>
          <a:bodyPr wrap="square" lIns="0" tIns="0" rIns="0" bIns="0" rtlCol="0" anchor="ctr"/>
          <a:lstStyle/>
          <a:p>
            <a:pPr indent="0" marL="0">
              <a:lnSpc>
                <a:spcPct val="98000"/>
              </a:lnSpc>
              <a:buNone/>
            </a:pPr>
            <a:r>
              <a:rPr lang="en-US" sz="5200" b="1" dirty="0">
                <a:solidFill>
                  <a:srgbClr val="FFFFFF"/>
                </a:solidFill>
                <a:latin typeface="Cambria" pitchFamily="34" charset="0"/>
                <a:ea typeface="Cambria" pitchFamily="34" charset="-122"/>
                <a:cs typeface="Cambria" pitchFamily="34" charset="-120"/>
              </a:rPr>
              <a:t>Hybrid Token-Efficient</a:t>
            </a:r>
            <a:endParaRPr lang="en-US" sz="5200" dirty="0"/>
          </a:p>
          <a:p>
            <a:pPr indent="0" marL="0">
              <a:lnSpc>
                <a:spcPct val="98000"/>
              </a:lnSpc>
              <a:buNone/>
            </a:pPr>
            <a:r>
              <a:rPr lang="en-US" sz="5200" b="1" dirty="0">
                <a:solidFill>
                  <a:srgbClr val="FFFFFF"/>
                </a:solidFill>
                <a:latin typeface="Cambria" pitchFamily="34" charset="0"/>
                <a:ea typeface="Cambria" pitchFamily="34" charset="-122"/>
                <a:cs typeface="Cambria" pitchFamily="34" charset="-120"/>
              </a:rPr>
              <a:t>Routing Agent</a:t>
            </a:r>
            <a:endParaRPr lang="en-US" sz="5200" dirty="0"/>
          </a:p>
        </p:txBody>
      </p:sp>
      <p:sp>
        <p:nvSpPr>
          <p:cNvPr id="7" name="Text 5"/>
          <p:cNvSpPr/>
          <p:nvPr/>
        </p:nvSpPr>
        <p:spPr>
          <a:xfrm>
            <a:off x="749808" y="4114800"/>
            <a:ext cx="10058400" cy="457200"/>
          </a:xfrm>
          <a:prstGeom prst="rect">
            <a:avLst/>
          </a:prstGeom>
          <a:noFill/>
          <a:ln/>
        </p:spPr>
        <p:txBody>
          <a:bodyPr wrap="square" lIns="0" tIns="0" rIns="0" bIns="0" rtlCol="0" anchor="ctr"/>
          <a:lstStyle/>
          <a:p>
            <a:pPr indent="0" marL="0">
              <a:buNone/>
            </a:pPr>
            <a:r>
              <a:rPr lang="en-US" sz="2000" i="1" dirty="0">
                <a:solidFill>
                  <a:srgbClr val="CFE8EF"/>
                </a:solidFill>
                <a:latin typeface="Calibri" pitchFamily="34" charset="0"/>
                <a:ea typeface="Calibri" pitchFamily="34" charset="-122"/>
                <a:cs typeface="Calibri" pitchFamily="34" charset="-120"/>
              </a:rPr>
              <a:t>Answer locally for free. Escalate only what you can prove is wrong.</a:t>
            </a:r>
            <a:endParaRPr lang="en-US" sz="2000" dirty="0"/>
          </a:p>
        </p:txBody>
      </p:sp>
      <p:sp>
        <p:nvSpPr>
          <p:cNvPr id="8" name="Shape 6"/>
          <p:cNvSpPr/>
          <p:nvPr/>
        </p:nvSpPr>
        <p:spPr>
          <a:xfrm>
            <a:off x="731520" y="4937760"/>
            <a:ext cx="3291840" cy="1234440"/>
          </a:xfrm>
          <a:prstGeom prst="roundRect">
            <a:avLst>
              <a:gd name="adj" fmla="val 6667"/>
            </a:avLst>
          </a:prstGeom>
          <a:solidFill>
            <a:srgbClr val="112B45"/>
          </a:solidFill>
          <a:ln/>
          <a:effectLst>
            <a:outerShdw sx="100000" sy="100000" kx="0" ky="0" algn="bl" rotWithShape="0" blurRad="101600" dist="38100" dir="5400000">
              <a:srgbClr val="000000">
                <a:alpha val="28000"/>
              </a:srgbClr>
            </a:outerShdw>
          </a:effectLst>
        </p:spPr>
      </p:sp>
      <p:sp>
        <p:nvSpPr>
          <p:cNvPr id="9" name="Text 7"/>
          <p:cNvSpPr/>
          <p:nvPr/>
        </p:nvSpPr>
        <p:spPr>
          <a:xfrm>
            <a:off x="960120" y="5074920"/>
            <a:ext cx="2834640" cy="640080"/>
          </a:xfrm>
          <a:prstGeom prst="rect">
            <a:avLst/>
          </a:prstGeom>
          <a:noFill/>
          <a:ln/>
        </p:spPr>
        <p:txBody>
          <a:bodyPr wrap="square" lIns="0" tIns="0" rIns="0" bIns="0" rtlCol="0" anchor="ctr"/>
          <a:lstStyle/>
          <a:p>
            <a:pPr indent="0" marL="0">
              <a:buNone/>
            </a:pPr>
            <a:r>
              <a:rPr lang="en-US" sz="3000" b="1" dirty="0">
                <a:solidFill>
                  <a:srgbClr val="2EC4B6"/>
                </a:solidFill>
                <a:latin typeface="Cambria" pitchFamily="34" charset="0"/>
                <a:ea typeface="Cambria" pitchFamily="34" charset="-122"/>
                <a:cs typeface="Cambria" pitchFamily="34" charset="-120"/>
              </a:rPr>
              <a:t>8</a:t>
            </a:r>
            <a:endParaRPr lang="en-US" sz="3000" dirty="0"/>
          </a:p>
        </p:txBody>
      </p:sp>
      <p:sp>
        <p:nvSpPr>
          <p:cNvPr id="10" name="Text 8"/>
          <p:cNvSpPr/>
          <p:nvPr/>
        </p:nvSpPr>
        <p:spPr>
          <a:xfrm>
            <a:off x="978408" y="5687568"/>
            <a:ext cx="2926080" cy="365760"/>
          </a:xfrm>
          <a:prstGeom prst="rect">
            <a:avLst/>
          </a:prstGeom>
          <a:noFill/>
          <a:ln/>
        </p:spPr>
        <p:txBody>
          <a:bodyPr wrap="square" lIns="0" tIns="0" rIns="0" bIns="0" rtlCol="0" anchor="ctr"/>
          <a:lstStyle/>
          <a:p>
            <a:pPr indent="0" marL="0">
              <a:buNone/>
            </a:pPr>
            <a:r>
              <a:rPr lang="en-US" sz="1300" dirty="0">
                <a:solidFill>
                  <a:srgbClr val="CFE8EF"/>
                </a:solidFill>
                <a:latin typeface="Calibri" pitchFamily="34" charset="0"/>
                <a:ea typeface="Calibri" pitchFamily="34" charset="-122"/>
                <a:cs typeface="Calibri" pitchFamily="34" charset="-120"/>
              </a:rPr>
              <a:t>task categories</a:t>
            </a:r>
            <a:endParaRPr lang="en-US" sz="1300" dirty="0"/>
          </a:p>
        </p:txBody>
      </p:sp>
      <p:sp>
        <p:nvSpPr>
          <p:cNvPr id="11" name="Shape 9"/>
          <p:cNvSpPr/>
          <p:nvPr/>
        </p:nvSpPr>
        <p:spPr>
          <a:xfrm>
            <a:off x="4297680" y="4937760"/>
            <a:ext cx="3291840" cy="1234440"/>
          </a:xfrm>
          <a:prstGeom prst="roundRect">
            <a:avLst>
              <a:gd name="adj" fmla="val 6667"/>
            </a:avLst>
          </a:prstGeom>
          <a:solidFill>
            <a:srgbClr val="112B45"/>
          </a:solidFill>
          <a:ln/>
          <a:effectLst>
            <a:outerShdw sx="100000" sy="100000" kx="0" ky="0" algn="bl" rotWithShape="0" blurRad="101600" dist="38100" dir="5400000">
              <a:srgbClr val="000000">
                <a:alpha val="28000"/>
              </a:srgbClr>
            </a:outerShdw>
          </a:effectLst>
        </p:spPr>
      </p:sp>
      <p:sp>
        <p:nvSpPr>
          <p:cNvPr id="12" name="Text 10"/>
          <p:cNvSpPr/>
          <p:nvPr/>
        </p:nvSpPr>
        <p:spPr>
          <a:xfrm>
            <a:off x="4526280" y="5074920"/>
            <a:ext cx="2834640" cy="640080"/>
          </a:xfrm>
          <a:prstGeom prst="rect">
            <a:avLst/>
          </a:prstGeom>
          <a:noFill/>
          <a:ln/>
        </p:spPr>
        <p:txBody>
          <a:bodyPr wrap="square" lIns="0" tIns="0" rIns="0" bIns="0" rtlCol="0" anchor="ctr"/>
          <a:lstStyle/>
          <a:p>
            <a:pPr indent="0" marL="0">
              <a:buNone/>
            </a:pPr>
            <a:r>
              <a:rPr lang="en-US" sz="3000" b="1" dirty="0">
                <a:solidFill>
                  <a:srgbClr val="2EC4B6"/>
                </a:solidFill>
                <a:latin typeface="Cambria" pitchFamily="34" charset="0"/>
                <a:ea typeface="Cambria" pitchFamily="34" charset="-122"/>
                <a:cs typeface="Cambria" pitchFamily="34" charset="-120"/>
              </a:rPr>
              <a:t>0</a:t>
            </a:r>
            <a:endParaRPr lang="en-US" sz="3000" dirty="0"/>
          </a:p>
        </p:txBody>
      </p:sp>
      <p:sp>
        <p:nvSpPr>
          <p:cNvPr id="13" name="Text 11"/>
          <p:cNvSpPr/>
          <p:nvPr/>
        </p:nvSpPr>
        <p:spPr>
          <a:xfrm>
            <a:off x="4544568" y="5687568"/>
            <a:ext cx="2926080" cy="365760"/>
          </a:xfrm>
          <a:prstGeom prst="rect">
            <a:avLst/>
          </a:prstGeom>
          <a:noFill/>
          <a:ln/>
        </p:spPr>
        <p:txBody>
          <a:bodyPr wrap="square" lIns="0" tIns="0" rIns="0" bIns="0" rtlCol="0" anchor="ctr"/>
          <a:lstStyle/>
          <a:p>
            <a:pPr indent="0" marL="0">
              <a:buNone/>
            </a:pPr>
            <a:r>
              <a:rPr lang="en-US" sz="1300" dirty="0">
                <a:solidFill>
                  <a:srgbClr val="CFE8EF"/>
                </a:solidFill>
                <a:latin typeface="Calibri" pitchFamily="34" charset="0"/>
                <a:ea typeface="Calibri" pitchFamily="34" charset="-122"/>
                <a:cs typeface="Calibri" pitchFamily="34" charset="-120"/>
              </a:rPr>
              <a:t>tokens for local answers</a:t>
            </a:r>
            <a:endParaRPr lang="en-US" sz="1300" dirty="0"/>
          </a:p>
        </p:txBody>
      </p:sp>
      <p:sp>
        <p:nvSpPr>
          <p:cNvPr id="14" name="Shape 12"/>
          <p:cNvSpPr/>
          <p:nvPr/>
        </p:nvSpPr>
        <p:spPr>
          <a:xfrm>
            <a:off x="7863840" y="4937760"/>
            <a:ext cx="3291840" cy="1234440"/>
          </a:xfrm>
          <a:prstGeom prst="roundRect">
            <a:avLst>
              <a:gd name="adj" fmla="val 6667"/>
            </a:avLst>
          </a:prstGeom>
          <a:solidFill>
            <a:srgbClr val="112B45"/>
          </a:solidFill>
          <a:ln/>
          <a:effectLst>
            <a:outerShdw sx="100000" sy="100000" kx="0" ky="0" algn="bl" rotWithShape="0" blurRad="101600" dist="38100" dir="5400000">
              <a:srgbClr val="000000">
                <a:alpha val="28000"/>
              </a:srgbClr>
            </a:outerShdw>
          </a:effectLst>
        </p:spPr>
      </p:sp>
      <p:sp>
        <p:nvSpPr>
          <p:cNvPr id="15" name="Text 13"/>
          <p:cNvSpPr/>
          <p:nvPr/>
        </p:nvSpPr>
        <p:spPr>
          <a:xfrm>
            <a:off x="8092440" y="5074920"/>
            <a:ext cx="2834640" cy="640080"/>
          </a:xfrm>
          <a:prstGeom prst="rect">
            <a:avLst/>
          </a:prstGeom>
          <a:noFill/>
          <a:ln/>
        </p:spPr>
        <p:txBody>
          <a:bodyPr wrap="square" lIns="0" tIns="0" rIns="0" bIns="0" rtlCol="0" anchor="ctr"/>
          <a:lstStyle/>
          <a:p>
            <a:pPr indent="0" marL="0">
              <a:buNone/>
            </a:pPr>
            <a:r>
              <a:rPr lang="en-US" sz="3000" b="1" dirty="0">
                <a:solidFill>
                  <a:srgbClr val="2EC4B6"/>
                </a:solidFill>
                <a:latin typeface="Cambria" pitchFamily="34" charset="0"/>
                <a:ea typeface="Cambria" pitchFamily="34" charset="-122"/>
                <a:cs typeface="Cambria" pitchFamily="34" charset="-120"/>
              </a:rPr>
              <a:t>10 min</a:t>
            </a:r>
            <a:endParaRPr lang="en-US" sz="3000" dirty="0"/>
          </a:p>
        </p:txBody>
      </p:sp>
      <p:sp>
        <p:nvSpPr>
          <p:cNvPr id="16" name="Text 14"/>
          <p:cNvSpPr/>
          <p:nvPr/>
        </p:nvSpPr>
        <p:spPr>
          <a:xfrm>
            <a:off x="8110728" y="5687568"/>
            <a:ext cx="2926080" cy="365760"/>
          </a:xfrm>
          <a:prstGeom prst="rect">
            <a:avLst/>
          </a:prstGeom>
          <a:noFill/>
          <a:ln/>
        </p:spPr>
        <p:txBody>
          <a:bodyPr wrap="square" lIns="0" tIns="0" rIns="0" bIns="0" rtlCol="0" anchor="ctr"/>
          <a:lstStyle/>
          <a:p>
            <a:pPr indent="0" marL="0">
              <a:buNone/>
            </a:pPr>
            <a:r>
              <a:rPr lang="en-US" sz="1300" dirty="0">
                <a:solidFill>
                  <a:srgbClr val="CFE8EF"/>
                </a:solidFill>
                <a:latin typeface="Calibri" pitchFamily="34" charset="0"/>
                <a:ea typeface="Calibri" pitchFamily="34" charset="-122"/>
                <a:cs typeface="Calibri" pitchFamily="34" charset="-120"/>
              </a:rPr>
              <a:t>hard runtime budget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A2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300" b="1" spc="300" kern="0" dirty="0">
                <a:solidFill>
                  <a:srgbClr val="2EC4B6"/>
                </a:solidFill>
                <a:latin typeface="Calibri" pitchFamily="34" charset="0"/>
                <a:ea typeface="Calibri" pitchFamily="34" charset="-122"/>
                <a:cs typeface="Calibri" pitchFamily="34" charset="-120"/>
              </a:rPr>
              <a:t>WHY THIS TRACK IS NOT WHAT IT LOOKS LIKE</a:t>
            </a:r>
            <a:endParaRPr lang="en-US" sz="13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leaderboard measures one thing: remote tokens avoided</a:t>
            </a:r>
            <a:endParaRPr lang="en-US" sz="3400" dirty="0"/>
          </a:p>
        </p:txBody>
      </p:sp>
      <p:sp>
        <p:nvSpPr>
          <p:cNvPr id="4" name="Shape 2"/>
          <p:cNvSpPr/>
          <p:nvPr/>
        </p:nvSpPr>
        <p:spPr>
          <a:xfrm>
            <a:off x="640080" y="2148840"/>
            <a:ext cx="5394960" cy="1554480"/>
          </a:xfrm>
          <a:prstGeom prst="roundRect">
            <a:avLst>
              <a:gd name="adj" fmla="val 5294"/>
            </a:avLst>
          </a:prstGeom>
          <a:solidFill>
            <a:srgbClr val="112B45"/>
          </a:solidFill>
          <a:ln/>
          <a:effectLst>
            <a:outerShdw sx="100000" sy="100000" kx="0" ky="0" algn="bl" rotWithShape="0" blurRad="101600" dist="38100" dir="5400000">
              <a:srgbClr val="000000">
                <a:alpha val="28000"/>
              </a:srgbClr>
            </a:outerShdw>
          </a:effectLst>
        </p:spPr>
      </p:sp>
      <p:sp>
        <p:nvSpPr>
          <p:cNvPr id="5" name="Shape 3"/>
          <p:cNvSpPr/>
          <p:nvPr/>
        </p:nvSpPr>
        <p:spPr>
          <a:xfrm>
            <a:off x="868680" y="2404872"/>
            <a:ext cx="566928" cy="566928"/>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6" name="Image 0" descr="preencoded.png">    </p:cNvPr>
          <p:cNvPicPr>
            <a:picLocks noChangeAspect="1"/>
          </p:cNvPicPr>
          <p:nvPr/>
        </p:nvPicPr>
        <p:blipFill>
          <a:blip r:embed="rId1"/>
          <a:stretch>
            <a:fillRect/>
          </a:stretch>
        </p:blipFill>
        <p:spPr>
          <a:xfrm>
            <a:off x="1016081" y="2552273"/>
            <a:ext cx="272125" cy="272125"/>
          </a:xfrm>
          <a:prstGeom prst="rect">
            <a:avLst/>
          </a:prstGeom>
        </p:spPr>
      </p:pic>
      <p:sp>
        <p:nvSpPr>
          <p:cNvPr id="7" name="Text 4"/>
          <p:cNvSpPr/>
          <p:nvPr/>
        </p:nvSpPr>
        <p:spPr>
          <a:xfrm>
            <a:off x="1600200" y="2404872"/>
            <a:ext cx="420624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Gate 1 — Accuracy</a:t>
            </a:r>
            <a:endParaRPr lang="en-US" sz="1900" dirty="0"/>
          </a:p>
        </p:txBody>
      </p:sp>
      <p:sp>
        <p:nvSpPr>
          <p:cNvPr id="8" name="Text 5"/>
          <p:cNvSpPr/>
          <p:nvPr/>
        </p:nvSpPr>
        <p:spPr>
          <a:xfrm>
            <a:off x="868680" y="2862072"/>
            <a:ext cx="4937760" cy="731520"/>
          </a:xfrm>
          <a:prstGeom prst="rect">
            <a:avLst/>
          </a:prstGeom>
          <a:noFill/>
          <a:ln/>
        </p:spPr>
        <p:txBody>
          <a:bodyPr wrap="square" lIns="0" tIns="0" rIns="0" bIns="0" rtlCol="0" anchor="ctr"/>
          <a:lstStyle/>
          <a:p>
            <a:pPr indent="0" marL="0">
              <a:buNone/>
            </a:pPr>
            <a:r>
              <a:rPr lang="en-US" sz="1350" dirty="0">
                <a:solidFill>
                  <a:srgbClr val="CFE8EF"/>
                </a:solidFill>
                <a:latin typeface="Calibri" pitchFamily="34" charset="0"/>
                <a:ea typeface="Calibri" pitchFamily="34" charset="-122"/>
                <a:cs typeface="Calibri" pitchFamily="34" charset="-120"/>
              </a:rPr>
              <a:t>An LLM judge scores every answer. Below the threshold, the whole submission is excluded from the leaderboard — no partial credit.</a:t>
            </a:r>
            <a:endParaRPr lang="en-US" sz="1350" dirty="0"/>
          </a:p>
        </p:txBody>
      </p:sp>
      <p:sp>
        <p:nvSpPr>
          <p:cNvPr id="9" name="Shape 6"/>
          <p:cNvSpPr/>
          <p:nvPr/>
        </p:nvSpPr>
        <p:spPr>
          <a:xfrm>
            <a:off x="6263640" y="2148840"/>
            <a:ext cx="5257800" cy="1554480"/>
          </a:xfrm>
          <a:prstGeom prst="roundRect">
            <a:avLst>
              <a:gd name="adj" fmla="val 5294"/>
            </a:avLst>
          </a:prstGeom>
          <a:solidFill>
            <a:srgbClr val="112B45"/>
          </a:solidFill>
          <a:ln/>
          <a:effectLst>
            <a:outerShdw sx="100000" sy="100000" kx="0" ky="0" algn="bl" rotWithShape="0" blurRad="101600" dist="38100" dir="5400000">
              <a:srgbClr val="000000">
                <a:alpha val="28000"/>
              </a:srgbClr>
            </a:outerShdw>
          </a:effectLst>
        </p:spPr>
      </p:sp>
      <p:sp>
        <p:nvSpPr>
          <p:cNvPr id="10" name="Shape 7"/>
          <p:cNvSpPr/>
          <p:nvPr/>
        </p:nvSpPr>
        <p:spPr>
          <a:xfrm>
            <a:off x="6492240" y="2404872"/>
            <a:ext cx="566928" cy="566928"/>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11" name="Image 1" descr="preencoded.png">    </p:cNvPr>
          <p:cNvPicPr>
            <a:picLocks noChangeAspect="1"/>
          </p:cNvPicPr>
          <p:nvPr/>
        </p:nvPicPr>
        <p:blipFill>
          <a:blip r:embed="rId2"/>
          <a:stretch>
            <a:fillRect/>
          </a:stretch>
        </p:blipFill>
        <p:spPr>
          <a:xfrm>
            <a:off x="6639641" y="2552273"/>
            <a:ext cx="272125" cy="272125"/>
          </a:xfrm>
          <a:prstGeom prst="rect">
            <a:avLst/>
          </a:prstGeom>
        </p:spPr>
      </p:pic>
      <p:sp>
        <p:nvSpPr>
          <p:cNvPr id="12" name="Text 8"/>
          <p:cNvSpPr/>
          <p:nvPr/>
        </p:nvSpPr>
        <p:spPr>
          <a:xfrm>
            <a:off x="7223760" y="2404872"/>
            <a:ext cx="411480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Gate 2 — Token count</a:t>
            </a:r>
            <a:endParaRPr lang="en-US" sz="1900" dirty="0"/>
          </a:p>
        </p:txBody>
      </p:sp>
      <p:sp>
        <p:nvSpPr>
          <p:cNvPr id="13" name="Text 9"/>
          <p:cNvSpPr/>
          <p:nvPr/>
        </p:nvSpPr>
        <p:spPr>
          <a:xfrm>
            <a:off x="6492240" y="2862072"/>
            <a:ext cx="4846320" cy="731520"/>
          </a:xfrm>
          <a:prstGeom prst="rect">
            <a:avLst/>
          </a:prstGeom>
          <a:noFill/>
          <a:ln/>
        </p:spPr>
        <p:txBody>
          <a:bodyPr wrap="square" lIns="0" tIns="0" rIns="0" bIns="0" rtlCol="0" anchor="ctr"/>
          <a:lstStyle/>
          <a:p>
            <a:pPr indent="0" marL="0">
              <a:buNone/>
            </a:pPr>
            <a:r>
              <a:rPr lang="en-US" sz="1350" dirty="0">
                <a:solidFill>
                  <a:srgbClr val="CFE8EF"/>
                </a:solidFill>
                <a:latin typeface="Calibri" pitchFamily="34" charset="0"/>
                <a:ea typeface="Calibri" pitchFamily="34" charset="-122"/>
                <a:cs typeface="Calibri" pitchFamily="34" charset="-120"/>
              </a:rPr>
              <a:t>Among submissions that pass, rank ascending by tokens metered at the Fireworks proxy. Fewer tokens = higher rank.</a:t>
            </a:r>
            <a:endParaRPr lang="en-US" sz="1350" dirty="0"/>
          </a:p>
        </p:txBody>
      </p:sp>
      <p:sp>
        <p:nvSpPr>
          <p:cNvPr id="14" name="Shape 10"/>
          <p:cNvSpPr/>
          <p:nvPr/>
        </p:nvSpPr>
        <p:spPr>
          <a:xfrm>
            <a:off x="640080" y="4023360"/>
            <a:ext cx="10881360" cy="1600200"/>
          </a:xfrm>
          <a:prstGeom prst="roundRect">
            <a:avLst>
              <a:gd name="adj" fmla="val 5143"/>
            </a:avLst>
          </a:prstGeom>
          <a:solidFill>
            <a:srgbClr val="1C7293"/>
          </a:solidFill>
          <a:ln/>
          <a:effectLst>
            <a:outerShdw sx="100000" sy="100000" kx="0" ky="0" algn="bl" rotWithShape="0" blurRad="101600" dist="38100" dir="5400000">
              <a:srgbClr val="000000">
                <a:alpha val="28000"/>
              </a:srgbClr>
            </a:outerShdw>
          </a:effectLst>
        </p:spPr>
      </p:sp>
      <p:sp>
        <p:nvSpPr>
          <p:cNvPr id="15" name="Shape 11"/>
          <p:cNvSpPr/>
          <p:nvPr/>
        </p:nvSpPr>
        <p:spPr>
          <a:xfrm>
            <a:off x="914400" y="4315968"/>
            <a:ext cx="640080" cy="640080"/>
          </a:xfrm>
          <a:prstGeom prst="ellipse">
            <a:avLst/>
          </a:prstGeom>
          <a:solidFill>
            <a:srgbClr val="0A1A2F"/>
          </a:solidFill>
          <a:ln/>
          <a:effectLst>
            <a:outerShdw sx="100000" sy="100000" kx="0" ky="0" algn="bl" rotWithShape="0" blurRad="101600" dist="38100" dir="5400000">
              <a:srgbClr val="000000">
                <a:alpha val="28000"/>
              </a:srgbClr>
            </a:outerShdw>
          </a:effectLst>
        </p:spPr>
      </p:sp>
      <p:pic>
        <p:nvPicPr>
          <p:cNvPr id="16" name="Image 2" descr="preencoded.png">    </p:cNvPr>
          <p:cNvPicPr>
            <a:picLocks noChangeAspect="1"/>
          </p:cNvPicPr>
          <p:nvPr/>
        </p:nvPicPr>
        <p:blipFill>
          <a:blip r:embed="rId3"/>
          <a:stretch>
            <a:fillRect/>
          </a:stretch>
        </p:blipFill>
        <p:spPr>
          <a:xfrm>
            <a:off x="1080821" y="4482389"/>
            <a:ext cx="307238" cy="307238"/>
          </a:xfrm>
          <a:prstGeom prst="rect">
            <a:avLst/>
          </a:prstGeom>
        </p:spPr>
      </p:pic>
      <p:sp>
        <p:nvSpPr>
          <p:cNvPr id="17" name="Text 12"/>
          <p:cNvSpPr/>
          <p:nvPr/>
        </p:nvSpPr>
        <p:spPr>
          <a:xfrm>
            <a:off x="1783080" y="4297680"/>
            <a:ext cx="9418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twist: local tokens count as ZERO</a:t>
            </a:r>
            <a:endParaRPr lang="en-US" sz="2200" dirty="0"/>
          </a:p>
        </p:txBody>
      </p:sp>
      <p:sp>
        <p:nvSpPr>
          <p:cNvPr id="18" name="Text 13"/>
          <p:cNvSpPr/>
          <p:nvPr/>
        </p:nvSpPr>
        <p:spPr>
          <a:xfrm>
            <a:off x="1801368" y="4846320"/>
            <a:ext cx="9509760" cy="731520"/>
          </a:xfrm>
          <a:prstGeom prst="rect">
            <a:avLst/>
          </a:prstGeom>
          <a:noFill/>
          <a:ln/>
        </p:spPr>
        <p:txBody>
          <a:bodyPr wrap="square" lIns="0" tIns="0" rIns="0" bIns="0" rtlCol="0" anchor="ctr"/>
          <a:lstStyle/>
          <a:p>
            <a:pPr indent="0" marL="0">
              <a:buNone/>
            </a:pPr>
            <a:r>
              <a:rPr lang="en-US" sz="1450" dirty="0">
                <a:solidFill>
                  <a:srgbClr val="CFE8EF"/>
                </a:solidFill>
                <a:latin typeface="Calibri" pitchFamily="34" charset="0"/>
                <a:ea typeface="Calibri" pitchFamily="34" charset="-122"/>
                <a:cs typeface="Calibri" pitchFamily="34" charset="-120"/>
              </a:rPr>
              <a:t>Only calls through the Fireworks API are metered. So the winning move isn't a bigger model or a cleverer prompt — it's answering as much as possible on a free local model and escalating as little as possible. Routing intelligence wins, not raw compute.</a:t>
            </a:r>
            <a:endParaRPr lang="en-US" sz="1450" dirty="0"/>
          </a:p>
        </p:txBody>
      </p:sp>
      <p:sp>
        <p:nvSpPr>
          <p:cNvPr id="19" name="Text 14"/>
          <p:cNvSpPr/>
          <p:nvPr/>
        </p:nvSpPr>
        <p:spPr>
          <a:xfrm>
            <a:off x="11183112" y="6309360"/>
            <a:ext cx="640080" cy="274320"/>
          </a:xfrm>
          <a:prstGeom prst="rect">
            <a:avLst/>
          </a:prstGeom>
          <a:noFill/>
          <a:ln/>
        </p:spPr>
        <p:txBody>
          <a:bodyPr wrap="square" rtlCol="0" anchor="ctr"/>
          <a:lstStyle/>
          <a:p>
            <a:pPr algn="r" indent="0" marL="0">
              <a:buNone/>
            </a:pPr>
            <a:r>
              <a:rPr lang="en-US" sz="1000" dirty="0">
                <a:solidFill>
                  <a:srgbClr val="8AA6B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A2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300" b="1" spc="300" kern="0" dirty="0">
                <a:solidFill>
                  <a:srgbClr val="2EC4B6"/>
                </a:solidFill>
                <a:latin typeface="Calibri" pitchFamily="34" charset="0"/>
                <a:ea typeface="Calibri" pitchFamily="34" charset="-122"/>
                <a:cs typeface="Calibri" pitchFamily="34" charset="-120"/>
              </a:rPr>
              <a:t>THE CORE DESIGN DECISION</a:t>
            </a:r>
            <a:endParaRPr lang="en-US" sz="13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verify-then-escalate cascade, not a probabilistic router</a:t>
            </a:r>
            <a:endParaRPr lang="en-US" sz="3400" dirty="0"/>
          </a:p>
        </p:txBody>
      </p:sp>
      <p:sp>
        <p:nvSpPr>
          <p:cNvPr id="4" name="Shape 2"/>
          <p:cNvSpPr/>
          <p:nvPr/>
        </p:nvSpPr>
        <p:spPr>
          <a:xfrm>
            <a:off x="640080" y="2194560"/>
            <a:ext cx="5394960" cy="3383280"/>
          </a:xfrm>
          <a:prstGeom prst="roundRect">
            <a:avLst>
              <a:gd name="adj" fmla="val 2432"/>
            </a:avLst>
          </a:prstGeom>
          <a:solidFill>
            <a:srgbClr val="112B45"/>
          </a:solidFill>
          <a:ln/>
          <a:effectLst>
            <a:outerShdw sx="100000" sy="100000" kx="0" ky="0" algn="bl" rotWithShape="0" blurRad="101600" dist="38100" dir="5400000">
              <a:srgbClr val="000000">
                <a:alpha val="28000"/>
              </a:srgbClr>
            </a:outerShdw>
          </a:effectLst>
        </p:spPr>
      </p:sp>
      <p:sp>
        <p:nvSpPr>
          <p:cNvPr id="5" name="Text 3"/>
          <p:cNvSpPr/>
          <p:nvPr/>
        </p:nvSpPr>
        <p:spPr>
          <a:xfrm>
            <a:off x="914400" y="2377440"/>
            <a:ext cx="4846320" cy="365760"/>
          </a:xfrm>
          <a:prstGeom prst="rect">
            <a:avLst/>
          </a:prstGeom>
          <a:noFill/>
          <a:ln/>
        </p:spPr>
        <p:txBody>
          <a:bodyPr wrap="square" lIns="0" tIns="0" rIns="0" bIns="0" rtlCol="0" anchor="ctr"/>
          <a:lstStyle/>
          <a:p>
            <a:pPr indent="0" marL="0">
              <a:buNone/>
            </a:pPr>
            <a:r>
              <a:rPr lang="en-US" sz="1800" b="1" dirty="0">
                <a:solidFill>
                  <a:srgbClr val="8AA6B8"/>
                </a:solidFill>
                <a:latin typeface="Cambria" pitchFamily="34" charset="0"/>
                <a:ea typeface="Cambria" pitchFamily="34" charset="-122"/>
                <a:cs typeface="Cambria" pitchFamily="34" charset="-120"/>
              </a:rPr>
              <a:t>Off-the-shelf routers</a:t>
            </a:r>
            <a:endParaRPr lang="en-US" sz="1800" dirty="0"/>
          </a:p>
        </p:txBody>
      </p:sp>
      <p:sp>
        <p:nvSpPr>
          <p:cNvPr id="6" name="Text 4"/>
          <p:cNvSpPr/>
          <p:nvPr/>
        </p:nvSpPr>
        <p:spPr>
          <a:xfrm>
            <a:off x="914400" y="2880360"/>
            <a:ext cx="484632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Built to save dollars, not to hit zero</a:t>
            </a:r>
            <a:endParaRPr lang="en-US" sz="1400" dirty="0"/>
          </a:p>
        </p:txBody>
      </p:sp>
      <p:sp>
        <p:nvSpPr>
          <p:cNvPr id="7" name="Text 5"/>
          <p:cNvSpPr/>
          <p:nvPr/>
        </p:nvSpPr>
        <p:spPr>
          <a:xfrm>
            <a:off x="914400" y="3447288"/>
            <a:ext cx="484632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Predict strong-vs-weak before generating</a:t>
            </a:r>
            <a:endParaRPr lang="en-US" sz="1400" dirty="0"/>
          </a:p>
        </p:txBody>
      </p:sp>
      <p:sp>
        <p:nvSpPr>
          <p:cNvPr id="8" name="Text 6"/>
          <p:cNvSpPr/>
          <p:nvPr/>
        </p:nvSpPr>
        <p:spPr>
          <a:xfrm>
            <a:off x="914400" y="4014216"/>
            <a:ext cx="484632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Route probabilistically, then trust the pick</a:t>
            </a:r>
            <a:endParaRPr lang="en-US" sz="1400" dirty="0"/>
          </a:p>
        </p:txBody>
      </p:sp>
      <p:sp>
        <p:nvSpPr>
          <p:cNvPr id="9" name="Text 7"/>
          <p:cNvSpPr/>
          <p:nvPr/>
        </p:nvSpPr>
        <p:spPr>
          <a:xfrm>
            <a:off x="914400" y="4581144"/>
            <a:ext cx="484632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Never check if the answer was actually right</a:t>
            </a:r>
            <a:endParaRPr lang="en-US" sz="1400" dirty="0"/>
          </a:p>
        </p:txBody>
      </p:sp>
      <p:sp>
        <p:nvSpPr>
          <p:cNvPr id="10" name="Text 8"/>
          <p:cNvSpPr/>
          <p:nvPr/>
        </p:nvSpPr>
        <p:spPr>
          <a:xfrm>
            <a:off x="914400" y="5230368"/>
            <a:ext cx="4846320" cy="365760"/>
          </a:xfrm>
          <a:prstGeom prst="rect">
            <a:avLst/>
          </a:prstGeom>
          <a:noFill/>
          <a:ln/>
        </p:spPr>
        <p:txBody>
          <a:bodyPr wrap="square" lIns="0" tIns="0" rIns="0" bIns="0" rtlCol="0" anchor="ctr"/>
          <a:lstStyle/>
          <a:p>
            <a:pPr indent="0" marL="0">
              <a:buNone/>
            </a:pPr>
            <a:r>
              <a:rPr lang="en-US" sz="1300" i="1" dirty="0">
                <a:solidFill>
                  <a:srgbClr val="E76F63"/>
                </a:solidFill>
                <a:latin typeface="Calibri" pitchFamily="34" charset="0"/>
                <a:ea typeface="Calibri" pitchFamily="34" charset="-122"/>
                <a:cs typeface="Calibri" pitchFamily="34" charset="-120"/>
              </a:rPr>
              <a:t>Wrong tool: our cheap tier costs zero, not “less.”</a:t>
            </a:r>
            <a:endParaRPr lang="en-US" sz="1300" dirty="0"/>
          </a:p>
        </p:txBody>
      </p:sp>
      <p:sp>
        <p:nvSpPr>
          <p:cNvPr id="11" name="Shape 9"/>
          <p:cNvSpPr/>
          <p:nvPr/>
        </p:nvSpPr>
        <p:spPr>
          <a:xfrm>
            <a:off x="6263640" y="2194560"/>
            <a:ext cx="5257800" cy="3383280"/>
          </a:xfrm>
          <a:prstGeom prst="roundRect">
            <a:avLst>
              <a:gd name="adj" fmla="val 2432"/>
            </a:avLst>
          </a:prstGeom>
          <a:solidFill>
            <a:srgbClr val="112B45"/>
          </a:solidFill>
          <a:ln/>
          <a:effectLst>
            <a:outerShdw sx="100000" sy="100000" kx="0" ky="0" algn="bl" rotWithShape="0" blurRad="101600" dist="38100" dir="5400000">
              <a:srgbClr val="000000">
                <a:alpha val="28000"/>
              </a:srgbClr>
            </a:outerShdw>
          </a:effectLst>
        </p:spPr>
      </p:sp>
      <p:sp>
        <p:nvSpPr>
          <p:cNvPr id="12" name="Text 10"/>
          <p:cNvSpPr/>
          <p:nvPr/>
        </p:nvSpPr>
        <p:spPr>
          <a:xfrm>
            <a:off x="6537960" y="2377440"/>
            <a:ext cx="4754880" cy="365760"/>
          </a:xfrm>
          <a:prstGeom prst="rect">
            <a:avLst/>
          </a:prstGeom>
          <a:noFill/>
          <a:ln/>
        </p:spPr>
        <p:txBody>
          <a:bodyPr wrap="square" lIns="0" tIns="0" rIns="0" bIns="0" rtlCol="0" anchor="ctr"/>
          <a:lstStyle/>
          <a:p>
            <a:pPr indent="0" marL="0">
              <a:buNone/>
            </a:pPr>
            <a:r>
              <a:rPr lang="en-US" sz="1800" b="1" dirty="0">
                <a:solidFill>
                  <a:srgbClr val="2EC4B6"/>
                </a:solidFill>
                <a:latin typeface="Cambria" pitchFamily="34" charset="0"/>
                <a:ea typeface="Cambria" pitchFamily="34" charset="-122"/>
                <a:cs typeface="Cambria" pitchFamily="34" charset="-120"/>
              </a:rPr>
              <a:t>This agent's cascade</a:t>
            </a:r>
            <a:endParaRPr lang="en-US" sz="1800" dirty="0"/>
          </a:p>
        </p:txBody>
      </p:sp>
      <p:sp>
        <p:nvSpPr>
          <p:cNvPr id="13" name="Shape 11"/>
          <p:cNvSpPr/>
          <p:nvPr/>
        </p:nvSpPr>
        <p:spPr>
          <a:xfrm>
            <a:off x="6537960" y="2834640"/>
            <a:ext cx="402336" cy="402336"/>
          </a:xfrm>
          <a:prstGeom prst="ellipse">
            <a:avLst/>
          </a:prstGeom>
          <a:solidFill>
            <a:srgbClr val="1C7293"/>
          </a:solidFill>
          <a:ln/>
        </p:spPr>
      </p:sp>
      <p:sp>
        <p:nvSpPr>
          <p:cNvPr id="14" name="Text 12"/>
          <p:cNvSpPr/>
          <p:nvPr/>
        </p:nvSpPr>
        <p:spPr>
          <a:xfrm>
            <a:off x="6537960" y="2852928"/>
            <a:ext cx="402336"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5" name="Text 13"/>
          <p:cNvSpPr/>
          <p:nvPr/>
        </p:nvSpPr>
        <p:spPr>
          <a:xfrm>
            <a:off x="7086600" y="2807208"/>
            <a:ext cx="429768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Classify  </a:t>
            </a:r>
            <a:pPr indent="0" marL="0">
              <a:buNone/>
            </a:pPr>
            <a:r>
              <a:rPr lang="en-US" sz="1350" dirty="0">
                <a:solidFill>
                  <a:srgbClr val="CFE8EF"/>
                </a:solidFill>
                <a:latin typeface="Calibri" pitchFamily="34" charset="0"/>
                <a:ea typeface="Calibri" pitchFamily="34" charset="-122"/>
                <a:cs typeface="Calibri" pitchFamily="34" charset="-120"/>
              </a:rPr>
              <a:t>zero-token pattern match → 1 of 8 categories</a:t>
            </a:r>
            <a:endParaRPr lang="en-US" sz="1350" dirty="0"/>
          </a:p>
        </p:txBody>
      </p:sp>
      <p:sp>
        <p:nvSpPr>
          <p:cNvPr id="16" name="Shape 14"/>
          <p:cNvSpPr/>
          <p:nvPr/>
        </p:nvSpPr>
        <p:spPr>
          <a:xfrm>
            <a:off x="6537960" y="3493008"/>
            <a:ext cx="402336" cy="402336"/>
          </a:xfrm>
          <a:prstGeom prst="ellipse">
            <a:avLst/>
          </a:prstGeom>
          <a:solidFill>
            <a:srgbClr val="1C7293"/>
          </a:solidFill>
          <a:ln/>
        </p:spPr>
      </p:sp>
      <p:sp>
        <p:nvSpPr>
          <p:cNvPr id="17" name="Text 15"/>
          <p:cNvSpPr/>
          <p:nvPr/>
        </p:nvSpPr>
        <p:spPr>
          <a:xfrm>
            <a:off x="6537960" y="3511296"/>
            <a:ext cx="402336"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Text 16"/>
          <p:cNvSpPr/>
          <p:nvPr/>
        </p:nvSpPr>
        <p:spPr>
          <a:xfrm>
            <a:off x="7086600" y="3465576"/>
            <a:ext cx="429768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Generate  </a:t>
            </a:r>
            <a:pPr indent="0" marL="0">
              <a:buNone/>
            </a:pPr>
            <a:r>
              <a:rPr lang="en-US" sz="1350" dirty="0">
                <a:solidFill>
                  <a:srgbClr val="CFE8EF"/>
                </a:solidFill>
                <a:latin typeface="Calibri" pitchFamily="34" charset="0"/>
                <a:ea typeface="Calibri" pitchFamily="34" charset="-122"/>
                <a:cs typeface="Calibri" pitchFamily="34" charset="-120"/>
              </a:rPr>
              <a:t>small local model answers, at zero cost</a:t>
            </a:r>
            <a:endParaRPr lang="en-US" sz="1350" dirty="0"/>
          </a:p>
        </p:txBody>
      </p:sp>
      <p:sp>
        <p:nvSpPr>
          <p:cNvPr id="19" name="Shape 17"/>
          <p:cNvSpPr/>
          <p:nvPr/>
        </p:nvSpPr>
        <p:spPr>
          <a:xfrm>
            <a:off x="6537960" y="4151376"/>
            <a:ext cx="402336" cy="402336"/>
          </a:xfrm>
          <a:prstGeom prst="ellipse">
            <a:avLst/>
          </a:prstGeom>
          <a:solidFill>
            <a:srgbClr val="1C7293"/>
          </a:solidFill>
          <a:ln/>
        </p:spPr>
      </p:sp>
      <p:sp>
        <p:nvSpPr>
          <p:cNvPr id="20" name="Text 18"/>
          <p:cNvSpPr/>
          <p:nvPr/>
        </p:nvSpPr>
        <p:spPr>
          <a:xfrm>
            <a:off x="6537960" y="4169664"/>
            <a:ext cx="402336"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p:nvPr/>
        </p:nvSpPr>
        <p:spPr>
          <a:xfrm>
            <a:off x="7086600" y="4123944"/>
            <a:ext cx="429768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Verify  </a:t>
            </a:r>
            <a:pPr indent="0" marL="0">
              <a:buNone/>
            </a:pPr>
            <a:r>
              <a:rPr lang="en-US" sz="1350" dirty="0">
                <a:solidFill>
                  <a:srgbClr val="CFE8EF"/>
                </a:solidFill>
                <a:latin typeface="Calibri" pitchFamily="34" charset="0"/>
                <a:ea typeface="Calibri" pitchFamily="34" charset="-122"/>
                <a:cs typeface="Calibri" pitchFamily="34" charset="-120"/>
              </a:rPr>
              <a:t>cheap deterministic check on that answer</a:t>
            </a:r>
            <a:endParaRPr lang="en-US" sz="1350" dirty="0"/>
          </a:p>
        </p:txBody>
      </p:sp>
      <p:sp>
        <p:nvSpPr>
          <p:cNvPr id="22" name="Shape 20"/>
          <p:cNvSpPr/>
          <p:nvPr/>
        </p:nvSpPr>
        <p:spPr>
          <a:xfrm>
            <a:off x="6537960" y="4809744"/>
            <a:ext cx="402336" cy="402336"/>
          </a:xfrm>
          <a:prstGeom prst="ellipse">
            <a:avLst/>
          </a:prstGeom>
          <a:solidFill>
            <a:srgbClr val="1C7293"/>
          </a:solidFill>
          <a:ln/>
        </p:spPr>
      </p:sp>
      <p:sp>
        <p:nvSpPr>
          <p:cNvPr id="23" name="Text 21"/>
          <p:cNvSpPr/>
          <p:nvPr/>
        </p:nvSpPr>
        <p:spPr>
          <a:xfrm>
            <a:off x="6537960" y="4828032"/>
            <a:ext cx="402336"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7086600" y="4782312"/>
            <a:ext cx="429768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Escalate  </a:t>
            </a:r>
            <a:pPr indent="0" marL="0">
              <a:buNone/>
            </a:pPr>
            <a:r>
              <a:rPr lang="en-US" sz="1350" dirty="0">
                <a:solidFill>
                  <a:srgbClr val="CFE8EF"/>
                </a:solidFill>
                <a:latin typeface="Calibri" pitchFamily="34" charset="0"/>
                <a:ea typeface="Calibri" pitchFamily="34" charset="-122"/>
                <a:cs typeface="Calibri" pitchFamily="34" charset="-120"/>
              </a:rPr>
              <a:t>one minimal Fireworks call — only on failure</a:t>
            </a:r>
            <a:endParaRPr lang="en-US" sz="1350" dirty="0"/>
          </a:p>
        </p:txBody>
      </p:sp>
      <p:sp>
        <p:nvSpPr>
          <p:cNvPr id="25" name="Text 23"/>
          <p:cNvSpPr/>
          <p:nvPr/>
        </p:nvSpPr>
        <p:spPr>
          <a:xfrm>
            <a:off x="11183112" y="6309360"/>
            <a:ext cx="640080" cy="274320"/>
          </a:xfrm>
          <a:prstGeom prst="rect">
            <a:avLst/>
          </a:prstGeom>
          <a:noFill/>
          <a:ln/>
        </p:spPr>
        <p:txBody>
          <a:bodyPr wrap="square" rtlCol="0" anchor="ctr"/>
          <a:lstStyle/>
          <a:p>
            <a:pPr algn="r" indent="0" marL="0">
              <a:buNone/>
            </a:pPr>
            <a:r>
              <a:rPr lang="en-US" sz="1000" dirty="0">
                <a:solidFill>
                  <a:srgbClr val="8AA6B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A2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300" b="1" spc="300" kern="0" dirty="0">
                <a:solidFill>
                  <a:srgbClr val="2EC4B6"/>
                </a:solidFill>
                <a:latin typeface="Calibri" pitchFamily="34" charset="0"/>
                <a:ea typeface="Calibri" pitchFamily="34" charset="-122"/>
                <a:cs typeface="Calibri" pitchFamily="34" charset="-120"/>
              </a:rPr>
              <a:t>THE ONE MECHANISM WORTH REMEMBERING</a:t>
            </a:r>
            <a:endParaRPr lang="en-US" sz="13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Agreement guards the accuracy gate on math &amp; logic</a:t>
            </a:r>
            <a:endParaRPr lang="en-US" sz="3400" dirty="0"/>
          </a:p>
        </p:txBody>
      </p:sp>
      <p:sp>
        <p:nvSpPr>
          <p:cNvPr id="4" name="Text 2"/>
          <p:cNvSpPr/>
          <p:nvPr/>
        </p:nvSpPr>
        <p:spPr>
          <a:xfrm>
            <a:off x="640080" y="1783080"/>
            <a:ext cx="10881360" cy="731520"/>
          </a:xfrm>
          <a:prstGeom prst="rect">
            <a:avLst/>
          </a:prstGeom>
          <a:noFill/>
          <a:ln/>
        </p:spPr>
        <p:txBody>
          <a:bodyPr wrap="square" lIns="0" tIns="0" rIns="0" bIns="0" rtlCol="0" anchor="ctr"/>
          <a:lstStyle/>
          <a:p>
            <a:pPr indent="0" marL="0">
              <a:buNone/>
            </a:pPr>
            <a:r>
              <a:rPr lang="en-US" sz="1550" dirty="0">
                <a:solidFill>
                  <a:srgbClr val="CFE8EF"/>
                </a:solidFill>
                <a:latin typeface="Calibri" pitchFamily="34" charset="0"/>
                <a:ea typeface="Calibri" pitchFamily="34" charset="-122"/>
                <a:cs typeface="Calibri" pitchFamily="34" charset="-120"/>
              </a:rPr>
              <a:t>A small model's worst failure is a confident wrong answer. Re-checking its arithmetic can't catch a wrong setup — so math and logic are trusted locally only when two independent samples agree.</a:t>
            </a:r>
            <a:endParaRPr lang="en-US" sz="1550" dirty="0"/>
          </a:p>
        </p:txBody>
      </p:sp>
      <p:sp>
        <p:nvSpPr>
          <p:cNvPr id="5" name="Shape 3"/>
          <p:cNvSpPr/>
          <p:nvPr/>
        </p:nvSpPr>
        <p:spPr>
          <a:xfrm>
            <a:off x="640080" y="2880360"/>
            <a:ext cx="2743200" cy="1371600"/>
          </a:xfrm>
          <a:prstGeom prst="roundRect">
            <a:avLst>
              <a:gd name="adj" fmla="val 6000"/>
            </a:avLst>
          </a:prstGeom>
          <a:solidFill>
            <a:srgbClr val="112B45"/>
          </a:solidFill>
          <a:ln/>
          <a:effectLst>
            <a:outerShdw sx="100000" sy="100000" kx="0" ky="0" algn="bl" rotWithShape="0" blurRad="101600" dist="38100" dir="5400000">
              <a:srgbClr val="000000">
                <a:alpha val="28000"/>
              </a:srgbClr>
            </a:outerShdw>
          </a:effectLst>
        </p:spPr>
      </p:sp>
      <p:sp>
        <p:nvSpPr>
          <p:cNvPr id="6" name="Text 4"/>
          <p:cNvSpPr/>
          <p:nvPr/>
        </p:nvSpPr>
        <p:spPr>
          <a:xfrm>
            <a:off x="822960" y="3044952"/>
            <a:ext cx="237744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Sample A</a:t>
            </a:r>
            <a:endParaRPr lang="en-US" sz="1600" dirty="0"/>
          </a:p>
        </p:txBody>
      </p:sp>
      <p:sp>
        <p:nvSpPr>
          <p:cNvPr id="7" name="Text 5"/>
          <p:cNvSpPr/>
          <p:nvPr/>
        </p:nvSpPr>
        <p:spPr>
          <a:xfrm>
            <a:off x="822960" y="3538728"/>
            <a:ext cx="2377440" cy="64008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temperature 0</a:t>
            </a:r>
            <a:endParaRPr lang="en-US" sz="1250" dirty="0"/>
          </a:p>
          <a:p>
            <a:pPr indent="0" marL="0">
              <a:buNone/>
            </a:pPr>
            <a:r>
              <a:rPr lang="en-US" sz="1250" dirty="0">
                <a:solidFill>
                  <a:srgbClr val="CFE8EF"/>
                </a:solidFill>
                <a:latin typeface="Calibri" pitchFamily="34" charset="0"/>
                <a:ea typeface="Calibri" pitchFamily="34" charset="-122"/>
                <a:cs typeface="Calibri" pitchFamily="34" charset="-120"/>
              </a:rPr>
              <a:t>(deterministic)</a:t>
            </a:r>
            <a:endParaRPr lang="en-US" sz="1250" dirty="0"/>
          </a:p>
        </p:txBody>
      </p:sp>
      <p:sp>
        <p:nvSpPr>
          <p:cNvPr id="8" name="Shape 6"/>
          <p:cNvSpPr/>
          <p:nvPr/>
        </p:nvSpPr>
        <p:spPr>
          <a:xfrm>
            <a:off x="640080" y="4480560"/>
            <a:ext cx="2743200" cy="1371600"/>
          </a:xfrm>
          <a:prstGeom prst="roundRect">
            <a:avLst>
              <a:gd name="adj" fmla="val 6000"/>
            </a:avLst>
          </a:prstGeom>
          <a:solidFill>
            <a:srgbClr val="112B45"/>
          </a:solidFill>
          <a:ln/>
          <a:effectLst>
            <a:outerShdw sx="100000" sy="100000" kx="0" ky="0" algn="bl" rotWithShape="0" blurRad="101600" dist="38100" dir="5400000">
              <a:srgbClr val="000000">
                <a:alpha val="28000"/>
              </a:srgbClr>
            </a:outerShdw>
          </a:effectLst>
        </p:spPr>
      </p:sp>
      <p:sp>
        <p:nvSpPr>
          <p:cNvPr id="9" name="Text 7"/>
          <p:cNvSpPr/>
          <p:nvPr/>
        </p:nvSpPr>
        <p:spPr>
          <a:xfrm>
            <a:off x="822960" y="4645152"/>
            <a:ext cx="237744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Sample B</a:t>
            </a:r>
            <a:endParaRPr lang="en-US" sz="1600" dirty="0"/>
          </a:p>
        </p:txBody>
      </p:sp>
      <p:sp>
        <p:nvSpPr>
          <p:cNvPr id="10" name="Text 8"/>
          <p:cNvSpPr/>
          <p:nvPr/>
        </p:nvSpPr>
        <p:spPr>
          <a:xfrm>
            <a:off x="822960" y="5138928"/>
            <a:ext cx="2377440" cy="64008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temperature 0.7</a:t>
            </a:r>
            <a:endParaRPr lang="en-US" sz="1250" dirty="0"/>
          </a:p>
          <a:p>
            <a:pPr indent="0" marL="0">
              <a:buNone/>
            </a:pPr>
            <a:r>
              <a:rPr lang="en-US" sz="1250" dirty="0">
                <a:solidFill>
                  <a:srgbClr val="CFE8EF"/>
                </a:solidFill>
                <a:latin typeface="Calibri" pitchFamily="34" charset="0"/>
                <a:ea typeface="Calibri" pitchFamily="34" charset="-122"/>
                <a:cs typeface="Calibri" pitchFamily="34" charset="-120"/>
              </a:rPr>
              <a:t>(sampling noise)</a:t>
            </a:r>
            <a:endParaRPr lang="en-US" sz="1250" dirty="0"/>
          </a:p>
        </p:txBody>
      </p:sp>
      <p:sp>
        <p:nvSpPr>
          <p:cNvPr id="11" name="Shape 9"/>
          <p:cNvSpPr/>
          <p:nvPr/>
        </p:nvSpPr>
        <p:spPr>
          <a:xfrm>
            <a:off x="4023360" y="3447288"/>
            <a:ext cx="2377440" cy="1828800"/>
          </a:xfrm>
          <a:prstGeom prst="diamond">
            <a:avLst/>
          </a:prstGeom>
          <a:solidFill>
            <a:srgbClr val="1C7293"/>
          </a:solidFill>
          <a:ln/>
          <a:effectLst>
            <a:outerShdw sx="100000" sy="100000" kx="0" ky="0" algn="bl" rotWithShape="0" blurRad="101600" dist="38100" dir="5400000">
              <a:srgbClr val="000000">
                <a:alpha val="28000"/>
              </a:srgbClr>
            </a:outerShdw>
          </a:effectLst>
        </p:spPr>
      </p:sp>
      <p:sp>
        <p:nvSpPr>
          <p:cNvPr id="12" name="Text 10"/>
          <p:cNvSpPr/>
          <p:nvPr/>
        </p:nvSpPr>
        <p:spPr>
          <a:xfrm>
            <a:off x="4023360" y="3931920"/>
            <a:ext cx="237744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Same final</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answer?</a:t>
            </a:r>
            <a:endParaRPr lang="en-US" sz="1600" dirty="0"/>
          </a:p>
        </p:txBody>
      </p:sp>
      <p:sp>
        <p:nvSpPr>
          <p:cNvPr id="13" name="Shape 11"/>
          <p:cNvSpPr/>
          <p:nvPr/>
        </p:nvSpPr>
        <p:spPr>
          <a:xfrm>
            <a:off x="3383280" y="3566160"/>
            <a:ext cx="640080" cy="685800"/>
          </a:xfrm>
          <a:prstGeom prst="line">
            <a:avLst/>
          </a:prstGeom>
          <a:noFill/>
          <a:ln w="25400">
            <a:solidFill>
              <a:srgbClr val="8AA6B8"/>
            </a:solidFill>
            <a:prstDash val="solid"/>
            <a:tailEnd type="triangle"/>
          </a:ln>
        </p:spPr>
      </p:sp>
      <p:sp>
        <p:nvSpPr>
          <p:cNvPr id="14" name="Shape 12"/>
          <p:cNvSpPr/>
          <p:nvPr/>
        </p:nvSpPr>
        <p:spPr>
          <a:xfrm>
            <a:off x="3383280" y="5166360"/>
            <a:ext cx="640080" cy="-685800"/>
          </a:xfrm>
          <a:prstGeom prst="line">
            <a:avLst/>
          </a:prstGeom>
          <a:noFill/>
          <a:ln w="25400">
            <a:solidFill>
              <a:srgbClr val="8AA6B8"/>
            </a:solidFill>
            <a:prstDash val="solid"/>
            <a:tailEnd type="triangle"/>
          </a:ln>
        </p:spPr>
      </p:sp>
      <p:sp>
        <p:nvSpPr>
          <p:cNvPr id="15" name="Shape 13"/>
          <p:cNvSpPr/>
          <p:nvPr/>
        </p:nvSpPr>
        <p:spPr>
          <a:xfrm>
            <a:off x="7040880" y="2788920"/>
            <a:ext cx="4480560" cy="1371600"/>
          </a:xfrm>
          <a:prstGeom prst="roundRect">
            <a:avLst>
              <a:gd name="adj" fmla="val 6000"/>
            </a:avLst>
          </a:prstGeom>
          <a:solidFill>
            <a:srgbClr val="16513A"/>
          </a:solidFill>
          <a:ln/>
          <a:effectLst>
            <a:outerShdw sx="100000" sy="100000" kx="0" ky="0" algn="bl" rotWithShape="0" blurRad="101600" dist="38100" dir="5400000">
              <a:srgbClr val="000000">
                <a:alpha val="28000"/>
              </a:srgbClr>
            </a:outerShdw>
          </a:effectLst>
        </p:spPr>
      </p:sp>
      <p:sp>
        <p:nvSpPr>
          <p:cNvPr id="16" name="Text 14"/>
          <p:cNvSpPr/>
          <p:nvPr/>
        </p:nvSpPr>
        <p:spPr>
          <a:xfrm>
            <a:off x="7223760" y="2953512"/>
            <a:ext cx="411480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Agree → keep, free</a:t>
            </a:r>
            <a:endParaRPr lang="en-US" sz="1600" dirty="0"/>
          </a:p>
        </p:txBody>
      </p:sp>
      <p:sp>
        <p:nvSpPr>
          <p:cNvPr id="17" name="Text 15"/>
          <p:cNvSpPr/>
          <p:nvPr/>
        </p:nvSpPr>
        <p:spPr>
          <a:xfrm>
            <a:off x="7223760" y="3447288"/>
            <a:ext cx="4114800" cy="64008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Trusted local answer. Zero remote tokens.</a:t>
            </a:r>
            <a:endParaRPr lang="en-US" sz="1250" dirty="0"/>
          </a:p>
        </p:txBody>
      </p:sp>
      <p:sp>
        <p:nvSpPr>
          <p:cNvPr id="18" name="Text 16"/>
          <p:cNvSpPr/>
          <p:nvPr/>
        </p:nvSpPr>
        <p:spPr>
          <a:xfrm>
            <a:off x="6446520" y="2926080"/>
            <a:ext cx="640080" cy="365760"/>
          </a:xfrm>
          <a:prstGeom prst="rect">
            <a:avLst/>
          </a:prstGeom>
          <a:noFill/>
          <a:ln/>
        </p:spPr>
        <p:txBody>
          <a:bodyPr wrap="square" lIns="0" tIns="0" rIns="0" bIns="0" rtlCol="0" anchor="ctr"/>
          <a:lstStyle/>
          <a:p>
            <a:pPr indent="0" marL="0">
              <a:buNone/>
            </a:pPr>
            <a:r>
              <a:rPr lang="en-US" sz="1200" b="1" dirty="0">
                <a:solidFill>
                  <a:srgbClr val="2EC4B6"/>
                </a:solidFill>
                <a:latin typeface="Calibri" pitchFamily="34" charset="0"/>
                <a:ea typeface="Calibri" pitchFamily="34" charset="-122"/>
                <a:cs typeface="Calibri" pitchFamily="34" charset="-120"/>
              </a:rPr>
              <a:t>YES</a:t>
            </a:r>
            <a:endParaRPr lang="en-US" sz="1200" dirty="0"/>
          </a:p>
        </p:txBody>
      </p:sp>
      <p:sp>
        <p:nvSpPr>
          <p:cNvPr id="19" name="Shape 17"/>
          <p:cNvSpPr/>
          <p:nvPr/>
        </p:nvSpPr>
        <p:spPr>
          <a:xfrm>
            <a:off x="7040880" y="4434840"/>
            <a:ext cx="4480560" cy="1371600"/>
          </a:xfrm>
          <a:prstGeom prst="roundRect">
            <a:avLst>
              <a:gd name="adj" fmla="val 6000"/>
            </a:avLst>
          </a:prstGeom>
          <a:solidFill>
            <a:srgbClr val="5A2A2A"/>
          </a:solidFill>
          <a:ln/>
          <a:effectLst>
            <a:outerShdw sx="100000" sy="100000" kx="0" ky="0" algn="bl" rotWithShape="0" blurRad="101600" dist="38100" dir="5400000">
              <a:srgbClr val="000000">
                <a:alpha val="28000"/>
              </a:srgbClr>
            </a:outerShdw>
          </a:effectLst>
        </p:spPr>
      </p:sp>
      <p:sp>
        <p:nvSpPr>
          <p:cNvPr id="20" name="Text 18"/>
          <p:cNvSpPr/>
          <p:nvPr/>
        </p:nvSpPr>
        <p:spPr>
          <a:xfrm>
            <a:off x="7223760" y="4599432"/>
            <a:ext cx="411480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Disagree → escalate</a:t>
            </a:r>
            <a:endParaRPr lang="en-US" sz="1600" dirty="0"/>
          </a:p>
        </p:txBody>
      </p:sp>
      <p:sp>
        <p:nvSpPr>
          <p:cNvPr id="21" name="Text 19"/>
          <p:cNvSpPr/>
          <p:nvPr/>
        </p:nvSpPr>
        <p:spPr>
          <a:xfrm>
            <a:off x="7223760" y="5093208"/>
            <a:ext cx="4114800" cy="64008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Sent to a strong remote model. A few tokens well spent.</a:t>
            </a:r>
            <a:endParaRPr lang="en-US" sz="1250" dirty="0"/>
          </a:p>
        </p:txBody>
      </p:sp>
      <p:sp>
        <p:nvSpPr>
          <p:cNvPr id="22" name="Text 20"/>
          <p:cNvSpPr/>
          <p:nvPr/>
        </p:nvSpPr>
        <p:spPr>
          <a:xfrm>
            <a:off x="6492240" y="4572000"/>
            <a:ext cx="640080" cy="365760"/>
          </a:xfrm>
          <a:prstGeom prst="rect">
            <a:avLst/>
          </a:prstGeom>
          <a:noFill/>
          <a:ln/>
        </p:spPr>
        <p:txBody>
          <a:bodyPr wrap="square" lIns="0" tIns="0" rIns="0" bIns="0" rtlCol="0" anchor="ctr"/>
          <a:lstStyle/>
          <a:p>
            <a:pPr indent="0" marL="0">
              <a:buNone/>
            </a:pPr>
            <a:r>
              <a:rPr lang="en-US" sz="1200" b="1" dirty="0">
                <a:solidFill>
                  <a:srgbClr val="E76F63"/>
                </a:solidFill>
                <a:latin typeface="Calibri" pitchFamily="34" charset="0"/>
                <a:ea typeface="Calibri" pitchFamily="34" charset="-122"/>
                <a:cs typeface="Calibri" pitchFamily="34" charset="-120"/>
              </a:rPr>
              <a:t>NO</a:t>
            </a:r>
            <a:endParaRPr lang="en-US" sz="1200" dirty="0"/>
          </a:p>
        </p:txBody>
      </p:sp>
      <p:sp>
        <p:nvSpPr>
          <p:cNvPr id="23" name="Shape 21"/>
          <p:cNvSpPr/>
          <p:nvPr/>
        </p:nvSpPr>
        <p:spPr>
          <a:xfrm>
            <a:off x="6400800" y="3703320"/>
            <a:ext cx="640080" cy="-137160"/>
          </a:xfrm>
          <a:prstGeom prst="line">
            <a:avLst/>
          </a:prstGeom>
          <a:noFill/>
          <a:ln w="25400">
            <a:solidFill>
              <a:srgbClr val="2EC4B6"/>
            </a:solidFill>
            <a:prstDash val="solid"/>
            <a:tailEnd type="triangle"/>
          </a:ln>
        </p:spPr>
      </p:sp>
      <p:sp>
        <p:nvSpPr>
          <p:cNvPr id="24" name="Shape 22"/>
          <p:cNvSpPr/>
          <p:nvPr/>
        </p:nvSpPr>
        <p:spPr>
          <a:xfrm>
            <a:off x="6400800" y="4434840"/>
            <a:ext cx="640080" cy="685800"/>
          </a:xfrm>
          <a:prstGeom prst="line">
            <a:avLst/>
          </a:prstGeom>
          <a:noFill/>
          <a:ln w="25400">
            <a:solidFill>
              <a:srgbClr val="E76F63"/>
            </a:solidFill>
            <a:prstDash val="solid"/>
            <a:tailEnd type="triangle"/>
          </a:ln>
        </p:spPr>
      </p:sp>
      <p:sp>
        <p:nvSpPr>
          <p:cNvPr id="25" name="Text 23"/>
          <p:cNvSpPr/>
          <p:nvPr/>
        </p:nvSpPr>
        <p:spPr>
          <a:xfrm>
            <a:off x="11183112" y="6309360"/>
            <a:ext cx="640080" cy="274320"/>
          </a:xfrm>
          <a:prstGeom prst="rect">
            <a:avLst/>
          </a:prstGeom>
          <a:noFill/>
          <a:ln/>
        </p:spPr>
        <p:txBody>
          <a:bodyPr wrap="square" rtlCol="0" anchor="ctr"/>
          <a:lstStyle/>
          <a:p>
            <a:pPr algn="r" indent="0" marL="0">
              <a:buNone/>
            </a:pPr>
            <a:r>
              <a:rPr lang="en-US" sz="1000" dirty="0">
                <a:solidFill>
                  <a:srgbClr val="8AA6B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A2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300" b="1" spc="300" kern="0" dirty="0">
                <a:solidFill>
                  <a:srgbClr val="2EC4B6"/>
                </a:solidFill>
                <a:latin typeface="Calibri" pitchFamily="34" charset="0"/>
                <a:ea typeface="Calibri" pitchFamily="34" charset="-122"/>
                <a:cs typeface="Calibri" pitchFamily="34" charset="-120"/>
              </a:rPr>
              <a:t>THE ENGINEERING AROUND THE CORE</a:t>
            </a:r>
            <a:endParaRPr lang="en-US" sz="13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Four decisions that make it robust</a:t>
            </a:r>
            <a:endParaRPr lang="en-US" sz="3400" dirty="0"/>
          </a:p>
        </p:txBody>
      </p:sp>
      <p:sp>
        <p:nvSpPr>
          <p:cNvPr id="4" name="Shape 2"/>
          <p:cNvSpPr/>
          <p:nvPr/>
        </p:nvSpPr>
        <p:spPr>
          <a:xfrm>
            <a:off x="640080" y="2194560"/>
            <a:ext cx="5394960" cy="1691640"/>
          </a:xfrm>
          <a:prstGeom prst="roundRect">
            <a:avLst>
              <a:gd name="adj" fmla="val 4865"/>
            </a:avLst>
          </a:prstGeom>
          <a:solidFill>
            <a:srgbClr val="112B45"/>
          </a:solidFill>
          <a:ln/>
          <a:effectLst>
            <a:outerShdw sx="100000" sy="100000" kx="0" ky="0" algn="bl" rotWithShape="0" blurRad="101600" dist="38100" dir="5400000">
              <a:srgbClr val="000000">
                <a:alpha val="28000"/>
              </a:srgbClr>
            </a:outerShdw>
          </a:effectLst>
        </p:spPr>
      </p:sp>
      <p:sp>
        <p:nvSpPr>
          <p:cNvPr id="5" name="Shape 3"/>
          <p:cNvSpPr/>
          <p:nvPr/>
        </p:nvSpPr>
        <p:spPr>
          <a:xfrm>
            <a:off x="896112" y="2450592"/>
            <a:ext cx="548640" cy="548640"/>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6" name="Image 0" descr="preencoded.png">    </p:cNvPr>
          <p:cNvPicPr>
            <a:picLocks noChangeAspect="1"/>
          </p:cNvPicPr>
          <p:nvPr/>
        </p:nvPicPr>
        <p:blipFill>
          <a:blip r:embed="rId1"/>
          <a:stretch>
            <a:fillRect/>
          </a:stretch>
        </p:blipFill>
        <p:spPr>
          <a:xfrm>
            <a:off x="1038758" y="2593238"/>
            <a:ext cx="263347" cy="263347"/>
          </a:xfrm>
          <a:prstGeom prst="rect">
            <a:avLst/>
          </a:prstGeom>
        </p:spPr>
      </p:pic>
      <p:sp>
        <p:nvSpPr>
          <p:cNvPr id="7" name="Text 4"/>
          <p:cNvSpPr/>
          <p:nvPr/>
        </p:nvSpPr>
        <p:spPr>
          <a:xfrm>
            <a:off x="1600200" y="2468880"/>
            <a:ext cx="4251960" cy="41148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Category-conditional Gemma</a:t>
            </a:r>
            <a:endParaRPr lang="en-US" sz="1650" dirty="0"/>
          </a:p>
        </p:txBody>
      </p:sp>
      <p:sp>
        <p:nvSpPr>
          <p:cNvPr id="8" name="Text 5"/>
          <p:cNvSpPr/>
          <p:nvPr/>
        </p:nvSpPr>
        <p:spPr>
          <a:xfrm>
            <a:off x="932688" y="3035808"/>
            <a:ext cx="4846320" cy="77724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Language escalations route to Gemma — keeping the $1,000 “Best Use of Gemma” sub-prize in play. Hard tasks go to the strongest model.</a:t>
            </a:r>
            <a:endParaRPr lang="en-US" sz="1250" dirty="0"/>
          </a:p>
        </p:txBody>
      </p:sp>
      <p:sp>
        <p:nvSpPr>
          <p:cNvPr id="9" name="Shape 6"/>
          <p:cNvSpPr/>
          <p:nvPr/>
        </p:nvSpPr>
        <p:spPr>
          <a:xfrm>
            <a:off x="6172200" y="2194560"/>
            <a:ext cx="5394960" cy="1691640"/>
          </a:xfrm>
          <a:prstGeom prst="roundRect">
            <a:avLst>
              <a:gd name="adj" fmla="val 4865"/>
            </a:avLst>
          </a:prstGeom>
          <a:solidFill>
            <a:srgbClr val="112B45"/>
          </a:solidFill>
          <a:ln/>
          <a:effectLst>
            <a:outerShdw sx="100000" sy="100000" kx="0" ky="0" algn="bl" rotWithShape="0" blurRad="101600" dist="38100" dir="5400000">
              <a:srgbClr val="000000">
                <a:alpha val="28000"/>
              </a:srgbClr>
            </a:outerShdw>
          </a:effectLst>
        </p:spPr>
      </p:sp>
      <p:sp>
        <p:nvSpPr>
          <p:cNvPr id="10" name="Shape 7"/>
          <p:cNvSpPr/>
          <p:nvPr/>
        </p:nvSpPr>
        <p:spPr>
          <a:xfrm>
            <a:off x="6428232" y="2450592"/>
            <a:ext cx="548640" cy="548640"/>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11" name="Image 1" descr="preencoded.png">    </p:cNvPr>
          <p:cNvPicPr>
            <a:picLocks noChangeAspect="1"/>
          </p:cNvPicPr>
          <p:nvPr/>
        </p:nvPicPr>
        <p:blipFill>
          <a:blip r:embed="rId2"/>
          <a:stretch>
            <a:fillRect/>
          </a:stretch>
        </p:blipFill>
        <p:spPr>
          <a:xfrm>
            <a:off x="6570878" y="2593238"/>
            <a:ext cx="263347" cy="263347"/>
          </a:xfrm>
          <a:prstGeom prst="rect">
            <a:avLst/>
          </a:prstGeom>
        </p:spPr>
      </p:pic>
      <p:sp>
        <p:nvSpPr>
          <p:cNvPr id="12" name="Text 8"/>
          <p:cNvSpPr/>
          <p:nvPr/>
        </p:nvSpPr>
        <p:spPr>
          <a:xfrm>
            <a:off x="7132320" y="2468880"/>
            <a:ext cx="4251960" cy="41148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No reasoning models</a:t>
            </a:r>
            <a:endParaRPr lang="en-US" sz="1650" dirty="0"/>
          </a:p>
        </p:txBody>
      </p:sp>
      <p:sp>
        <p:nvSpPr>
          <p:cNvPr id="13" name="Text 9"/>
          <p:cNvSpPr/>
          <p:nvPr/>
        </p:nvSpPr>
        <p:spPr>
          <a:xfrm>
            <a:off x="6464808" y="3035808"/>
            <a:ext cx="4846320" cy="77724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Thinking models emit chain-of-thought as billed output tokens. On a token-scored track that's poison — they're banned at model-selection time.</a:t>
            </a:r>
            <a:endParaRPr lang="en-US" sz="1250" dirty="0"/>
          </a:p>
        </p:txBody>
      </p:sp>
      <p:sp>
        <p:nvSpPr>
          <p:cNvPr id="14" name="Shape 10"/>
          <p:cNvSpPr/>
          <p:nvPr/>
        </p:nvSpPr>
        <p:spPr>
          <a:xfrm>
            <a:off x="640080" y="4050792"/>
            <a:ext cx="5394960" cy="1691640"/>
          </a:xfrm>
          <a:prstGeom prst="roundRect">
            <a:avLst>
              <a:gd name="adj" fmla="val 4865"/>
            </a:avLst>
          </a:prstGeom>
          <a:solidFill>
            <a:srgbClr val="112B45"/>
          </a:solidFill>
          <a:ln/>
          <a:effectLst>
            <a:outerShdw sx="100000" sy="100000" kx="0" ky="0" algn="bl" rotWithShape="0" blurRad="101600" dist="38100" dir="5400000">
              <a:srgbClr val="000000">
                <a:alpha val="28000"/>
              </a:srgbClr>
            </a:outerShdw>
          </a:effectLst>
        </p:spPr>
      </p:sp>
      <p:sp>
        <p:nvSpPr>
          <p:cNvPr id="15" name="Shape 11"/>
          <p:cNvSpPr/>
          <p:nvPr/>
        </p:nvSpPr>
        <p:spPr>
          <a:xfrm>
            <a:off x="896112" y="4306824"/>
            <a:ext cx="548640" cy="548640"/>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16" name="Image 2" descr="preencoded.png">    </p:cNvPr>
          <p:cNvPicPr>
            <a:picLocks noChangeAspect="1"/>
          </p:cNvPicPr>
          <p:nvPr/>
        </p:nvPicPr>
        <p:blipFill>
          <a:blip r:embed="rId3"/>
          <a:stretch>
            <a:fillRect/>
          </a:stretch>
        </p:blipFill>
        <p:spPr>
          <a:xfrm>
            <a:off x="1038758" y="4449470"/>
            <a:ext cx="263347" cy="263347"/>
          </a:xfrm>
          <a:prstGeom prst="rect">
            <a:avLst/>
          </a:prstGeom>
        </p:spPr>
      </p:pic>
      <p:sp>
        <p:nvSpPr>
          <p:cNvPr id="17" name="Text 12"/>
          <p:cNvSpPr/>
          <p:nvPr/>
        </p:nvSpPr>
        <p:spPr>
          <a:xfrm>
            <a:off x="1600200" y="4325112"/>
            <a:ext cx="4251960" cy="41148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Adaptive degradation</a:t>
            </a:r>
            <a:endParaRPr lang="en-US" sz="1650" dirty="0"/>
          </a:p>
        </p:txBody>
      </p:sp>
      <p:sp>
        <p:nvSpPr>
          <p:cNvPr id="18" name="Text 13"/>
          <p:cNvSpPr/>
          <p:nvPr/>
        </p:nvSpPr>
        <p:spPr>
          <a:xfrm>
            <a:off x="932688" y="4892040"/>
            <a:ext cx="4846320" cy="77724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A startup throughput probe measures the local model. Slow hardware → hard tasks go remote. No model or far too slow → pure-Fireworks fallback.</a:t>
            </a:r>
            <a:endParaRPr lang="en-US" sz="1250" dirty="0"/>
          </a:p>
        </p:txBody>
      </p:sp>
      <p:sp>
        <p:nvSpPr>
          <p:cNvPr id="19" name="Shape 14"/>
          <p:cNvSpPr/>
          <p:nvPr/>
        </p:nvSpPr>
        <p:spPr>
          <a:xfrm>
            <a:off x="6172200" y="4050792"/>
            <a:ext cx="5394960" cy="1691640"/>
          </a:xfrm>
          <a:prstGeom prst="roundRect">
            <a:avLst>
              <a:gd name="adj" fmla="val 4865"/>
            </a:avLst>
          </a:prstGeom>
          <a:solidFill>
            <a:srgbClr val="112B45"/>
          </a:solidFill>
          <a:ln/>
          <a:effectLst>
            <a:outerShdw sx="100000" sy="100000" kx="0" ky="0" algn="bl" rotWithShape="0" blurRad="101600" dist="38100" dir="5400000">
              <a:srgbClr val="000000">
                <a:alpha val="28000"/>
              </a:srgbClr>
            </a:outerShdw>
          </a:effectLst>
        </p:spPr>
      </p:sp>
      <p:sp>
        <p:nvSpPr>
          <p:cNvPr id="20" name="Shape 15"/>
          <p:cNvSpPr/>
          <p:nvPr/>
        </p:nvSpPr>
        <p:spPr>
          <a:xfrm>
            <a:off x="6428232" y="4306824"/>
            <a:ext cx="548640" cy="548640"/>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21" name="Image 3" descr="preencoded.png">    </p:cNvPr>
          <p:cNvPicPr>
            <a:picLocks noChangeAspect="1"/>
          </p:cNvPicPr>
          <p:nvPr/>
        </p:nvPicPr>
        <p:blipFill>
          <a:blip r:embed="rId4"/>
          <a:stretch>
            <a:fillRect/>
          </a:stretch>
        </p:blipFill>
        <p:spPr>
          <a:xfrm>
            <a:off x="6570878" y="4449470"/>
            <a:ext cx="263347" cy="263347"/>
          </a:xfrm>
          <a:prstGeom prst="rect">
            <a:avLst/>
          </a:prstGeom>
        </p:spPr>
      </p:pic>
      <p:sp>
        <p:nvSpPr>
          <p:cNvPr id="22" name="Text 16"/>
          <p:cNvSpPr/>
          <p:nvPr/>
        </p:nvSpPr>
        <p:spPr>
          <a:xfrm>
            <a:off x="7132320" y="4325112"/>
            <a:ext cx="4251960" cy="41148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Portable &amp; fail-safe</a:t>
            </a:r>
            <a:endParaRPr lang="en-US" sz="1650" dirty="0"/>
          </a:p>
        </p:txBody>
      </p:sp>
      <p:sp>
        <p:nvSpPr>
          <p:cNvPr id="23" name="Text 17"/>
          <p:cNvSpPr/>
          <p:nvPr/>
        </p:nvSpPr>
        <p:spPr>
          <a:xfrm>
            <a:off x="6464808" y="4892040"/>
            <a:ext cx="4846320" cy="77724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Built with a conservative CPU instruction set (no illegal-instruction crash on unknown hardware). Always writes valid JSON and exits clean.</a:t>
            </a:r>
            <a:endParaRPr lang="en-US" sz="1250" dirty="0"/>
          </a:p>
        </p:txBody>
      </p:sp>
      <p:sp>
        <p:nvSpPr>
          <p:cNvPr id="24" name="Text 18"/>
          <p:cNvSpPr/>
          <p:nvPr/>
        </p:nvSpPr>
        <p:spPr>
          <a:xfrm>
            <a:off x="11183112" y="6309360"/>
            <a:ext cx="640080" cy="274320"/>
          </a:xfrm>
          <a:prstGeom prst="rect">
            <a:avLst/>
          </a:prstGeom>
          <a:noFill/>
          <a:ln/>
        </p:spPr>
        <p:txBody>
          <a:bodyPr wrap="square" rtlCol="0" anchor="ctr"/>
          <a:lstStyle/>
          <a:p>
            <a:pPr algn="r" indent="0" marL="0">
              <a:buNone/>
            </a:pPr>
            <a:r>
              <a:rPr lang="en-US" sz="1000" dirty="0">
                <a:solidFill>
                  <a:srgbClr val="8AA6B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A2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300" b="1" spc="300" kern="0" dirty="0">
                <a:solidFill>
                  <a:srgbClr val="2EC4B6"/>
                </a:solidFill>
                <a:latin typeface="Calibri" pitchFamily="34" charset="0"/>
                <a:ea typeface="Calibri" pitchFamily="34" charset="-122"/>
                <a:cs typeface="Calibri" pitchFamily="34" charset="-120"/>
              </a:rPr>
              <a:t>PLACEMENT POLICY ACROSS ALL EIGHT CATEGORIES</a:t>
            </a:r>
            <a:endParaRPr lang="en-US" sz="13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runs local, what escalates, and how it's checked</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881360" cy="914400"/>
        </p:xfrm>
        <a:graphic>
          <a:graphicData uri="http://schemas.openxmlformats.org/drawingml/2006/table">
            <a:tbl>
              <a:tblPr/>
              <a:tblGrid>
                <a:gridCol w="2468880"/>
                <a:gridCol w="1737360"/>
                <a:gridCol w="3383280"/>
                <a:gridCol w="3291840"/>
              </a:tblGrid>
              <a:tr h="402336">
                <a:tc>
                  <a:txBody>
                    <a:bodyPr/>
                    <a:lstStyle/>
                    <a:p>
                      <a:pPr algn="l" indent="0" marL="0">
                        <a:buNone/>
                      </a:pPr>
                      <a:r>
                        <a:rPr lang="en-US" sz="1350" b="1" dirty="0">
                          <a:solidFill>
                            <a:srgbClr val="FFFFFF"/>
                          </a:solidFill>
                          <a:latin typeface="Cambria" pitchFamily="34" charset="0"/>
                          <a:ea typeface="Cambria" pitchFamily="34" charset="-122"/>
                          <a:cs typeface="Cambria" pitchFamily="34" charset="-120"/>
                        </a:rPr>
                        <a:t>Category</a:t>
                      </a:r>
                      <a:endParaRPr lang="en-US" sz="1350" dirty="0">
                        <a:latin typeface="Cambria" charset="0"/>
                        <a:ea typeface="Cambria" charset="0"/>
                        <a:cs typeface="Cambria"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C7293"/>
                    </a:solidFill>
                  </a:tcPr>
                </a:tc>
                <a:tc>
                  <a:txBody>
                    <a:bodyPr/>
                    <a:lstStyle/>
                    <a:p>
                      <a:pPr algn="l" indent="0" marL="0">
                        <a:buNone/>
                      </a:pPr>
                      <a:r>
                        <a:rPr lang="en-US" sz="1350" b="1" dirty="0">
                          <a:solidFill>
                            <a:srgbClr val="FFFFFF"/>
                          </a:solidFill>
                          <a:latin typeface="Cambria" pitchFamily="34" charset="0"/>
                          <a:ea typeface="Cambria" pitchFamily="34" charset="-122"/>
                          <a:cs typeface="Cambria" pitchFamily="34" charset="-120"/>
                        </a:rPr>
                        <a:t>Default</a:t>
                      </a:r>
                      <a:endParaRPr lang="en-US" sz="1350" dirty="0">
                        <a:latin typeface="Cambria" charset="0"/>
                        <a:ea typeface="Cambria" charset="0"/>
                        <a:cs typeface="Cambria"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C7293"/>
                    </a:solidFill>
                  </a:tcPr>
                </a:tc>
                <a:tc>
                  <a:txBody>
                    <a:bodyPr/>
                    <a:lstStyle/>
                    <a:p>
                      <a:pPr algn="l" indent="0" marL="0">
                        <a:buNone/>
                      </a:pPr>
                      <a:r>
                        <a:rPr lang="en-US" sz="1350" b="1" dirty="0">
                          <a:solidFill>
                            <a:srgbClr val="FFFFFF"/>
                          </a:solidFill>
                          <a:latin typeface="Cambria" pitchFamily="34" charset="0"/>
                          <a:ea typeface="Cambria" pitchFamily="34" charset="-122"/>
                          <a:cs typeface="Cambria" pitchFamily="34" charset="-120"/>
                        </a:rPr>
                        <a:t>Local verification</a:t>
                      </a:r>
                      <a:endParaRPr lang="en-US" sz="1350" dirty="0">
                        <a:latin typeface="Cambria" charset="0"/>
                        <a:ea typeface="Cambria" charset="0"/>
                        <a:cs typeface="Cambria"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C7293"/>
                    </a:solidFill>
                  </a:tcPr>
                </a:tc>
                <a:tc>
                  <a:txBody>
                    <a:bodyPr/>
                    <a:lstStyle/>
                    <a:p>
                      <a:pPr algn="l" indent="0" marL="0">
                        <a:buNone/>
                      </a:pPr>
                      <a:r>
                        <a:rPr lang="en-US" sz="1350" b="1" dirty="0">
                          <a:solidFill>
                            <a:srgbClr val="FFFFFF"/>
                          </a:solidFill>
                          <a:latin typeface="Cambria" pitchFamily="34" charset="0"/>
                          <a:ea typeface="Cambria" pitchFamily="34" charset="-122"/>
                          <a:cs typeface="Cambria" pitchFamily="34" charset="-120"/>
                        </a:rPr>
                        <a:t>Escalation trigger</a:t>
                      </a:r>
                      <a:endParaRPr lang="en-US" sz="1350" dirty="0">
                        <a:latin typeface="Cambria" charset="0"/>
                        <a:ea typeface="Cambria" charset="0"/>
                        <a:cs typeface="Cambria"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C7293"/>
                    </a:solidFill>
                  </a:tcPr>
                </a:tc>
              </a:tr>
              <a:tr h="402336">
                <a:tc>
                  <a:txBody>
                    <a:bodyPr/>
                    <a:lstStyle/>
                    <a:p>
                      <a:pPr algn="l" indent="0" marL="0">
                        <a:buNone/>
                      </a:pPr>
                      <a:r>
                        <a:rPr lang="en-US" sz="1250" b="1" dirty="0">
                          <a:solidFill>
                            <a:srgbClr val="CFE8EF"/>
                          </a:solidFill>
                          <a:latin typeface="Calibri" pitchFamily="34" charset="0"/>
                          <a:ea typeface="Calibri" pitchFamily="34" charset="-122"/>
                          <a:cs typeface="Calibri" pitchFamily="34" charset="-120"/>
                        </a:rPr>
                        <a:t>Factual</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Local</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non-empty, no hedging</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empty / uncertain</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r>
              <a:tr h="402336">
                <a:tc>
                  <a:txBody>
                    <a:bodyPr/>
                    <a:lstStyle/>
                    <a:p>
                      <a:pPr algn="l" indent="0" marL="0">
                        <a:buNone/>
                      </a:pPr>
                      <a:r>
                        <a:rPr lang="en-US" sz="1250" b="1" dirty="0">
                          <a:solidFill>
                            <a:srgbClr val="CFE8EF"/>
                          </a:solidFill>
                          <a:latin typeface="Calibri" pitchFamily="34" charset="0"/>
                          <a:ea typeface="Calibri" pitchFamily="34" charset="-122"/>
                          <a:cs typeface="Calibri" pitchFamily="34" charset="-120"/>
                        </a:rPr>
                        <a:t>Math</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7DE2D1"/>
                          </a:solidFill>
                          <a:latin typeface="Calibri" pitchFamily="34" charset="0"/>
                          <a:ea typeface="Calibri" pitchFamily="34" charset="-122"/>
                          <a:cs typeface="Calibri" pitchFamily="34" charset="-120"/>
                        </a:rPr>
                        <a:t>Local ×2</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sample agreement</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samples disagree</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r>
              <a:tr h="402336">
                <a:tc>
                  <a:txBody>
                    <a:bodyPr/>
                    <a:lstStyle/>
                    <a:p>
                      <a:pPr algn="l" indent="0" marL="0">
                        <a:buNone/>
                      </a:pPr>
                      <a:r>
                        <a:rPr lang="en-US" sz="1250" b="1" dirty="0">
                          <a:solidFill>
                            <a:srgbClr val="CFE8EF"/>
                          </a:solidFill>
                          <a:latin typeface="Calibri" pitchFamily="34" charset="0"/>
                          <a:ea typeface="Calibri" pitchFamily="34" charset="-122"/>
                          <a:cs typeface="Calibri" pitchFamily="34" charset="-120"/>
                        </a:rPr>
                        <a:t>Sentiment</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Local</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valid label + reason</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invalid label</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r>
              <a:tr h="402336">
                <a:tc>
                  <a:txBody>
                    <a:bodyPr/>
                    <a:lstStyle/>
                    <a:p>
                      <a:pPr algn="l" indent="0" marL="0">
                        <a:buNone/>
                      </a:pPr>
                      <a:r>
                        <a:rPr lang="en-US" sz="1250" b="1" dirty="0">
                          <a:solidFill>
                            <a:srgbClr val="CFE8EF"/>
                          </a:solidFill>
                          <a:latin typeface="Calibri" pitchFamily="34" charset="0"/>
                          <a:ea typeface="Calibri" pitchFamily="34" charset="-122"/>
                          <a:cs typeface="Calibri" pitchFamily="34" charset="-120"/>
                        </a:rPr>
                        <a:t>Summarization</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Local</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length/format check</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limit violated</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r>
              <a:tr h="402336">
                <a:tc>
                  <a:txBody>
                    <a:bodyPr/>
                    <a:lstStyle/>
                    <a:p>
                      <a:pPr algn="l" indent="0" marL="0">
                        <a:buNone/>
                      </a:pPr>
                      <a:r>
                        <a:rPr lang="en-US" sz="1250" b="1" dirty="0">
                          <a:solidFill>
                            <a:srgbClr val="CFE8EF"/>
                          </a:solidFill>
                          <a:latin typeface="Calibri" pitchFamily="34" charset="0"/>
                          <a:ea typeface="Calibri" pitchFamily="34" charset="-122"/>
                          <a:cs typeface="Calibri" pitchFamily="34" charset="-120"/>
                        </a:rPr>
                        <a:t>NER</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Local</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JSON schema valid</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invalid JSON</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r>
              <a:tr h="402336">
                <a:tc>
                  <a:txBody>
                    <a:bodyPr/>
                    <a:lstStyle/>
                    <a:p>
                      <a:pPr algn="l" indent="0" marL="0">
                        <a:buNone/>
                      </a:pPr>
                      <a:r>
                        <a:rPr lang="en-US" sz="1250" b="1" dirty="0">
                          <a:solidFill>
                            <a:srgbClr val="CFE8EF"/>
                          </a:solidFill>
                          <a:latin typeface="Calibri" pitchFamily="34" charset="0"/>
                          <a:ea typeface="Calibri" pitchFamily="34" charset="-122"/>
                          <a:cs typeface="Calibri" pitchFamily="34" charset="-120"/>
                        </a:rPr>
                        <a:t>Code debug</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Local</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parses / asserts run</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parse or test fail</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r>
              <a:tr h="402336">
                <a:tc>
                  <a:txBody>
                    <a:bodyPr/>
                    <a:lstStyle/>
                    <a:p>
                      <a:pPr algn="l" indent="0" marL="0">
                        <a:buNone/>
                      </a:pPr>
                      <a:r>
                        <a:rPr lang="en-US" sz="1250" b="1" dirty="0">
                          <a:solidFill>
                            <a:srgbClr val="CFE8EF"/>
                          </a:solidFill>
                          <a:latin typeface="Calibri" pitchFamily="34" charset="0"/>
                          <a:ea typeface="Calibri" pitchFamily="34" charset="-122"/>
                          <a:cs typeface="Calibri" pitchFamily="34" charset="-120"/>
                        </a:rPr>
                        <a:t>Logic</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7DE2D1"/>
                          </a:solidFill>
                          <a:latin typeface="Calibri" pitchFamily="34" charset="0"/>
                          <a:ea typeface="Calibri" pitchFamily="34" charset="-122"/>
                          <a:cs typeface="Calibri" pitchFamily="34" charset="-120"/>
                        </a:rPr>
                        <a:t>Local ×2</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sample agreement</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samples disagree</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112B45"/>
                    </a:solidFill>
                  </a:tcPr>
                </a:tc>
              </a:tr>
              <a:tr h="402336">
                <a:tc>
                  <a:txBody>
                    <a:bodyPr/>
                    <a:lstStyle/>
                    <a:p>
                      <a:pPr algn="l" indent="0" marL="0">
                        <a:buNone/>
                      </a:pPr>
                      <a:r>
                        <a:rPr lang="en-US" sz="1250" b="1" dirty="0">
                          <a:solidFill>
                            <a:srgbClr val="CFE8EF"/>
                          </a:solidFill>
                          <a:latin typeface="Calibri" pitchFamily="34" charset="0"/>
                          <a:ea typeface="Calibri" pitchFamily="34" charset="-122"/>
                          <a:cs typeface="Calibri" pitchFamily="34" charset="-120"/>
                        </a:rPr>
                        <a:t>Code generation</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Local</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parses / asserts run</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c>
                  <a:txBody>
                    <a:bodyPr/>
                    <a:lstStyle/>
                    <a:p>
                      <a:pPr algn="l" indent="0" marL="0">
                        <a:buNone/>
                      </a:pPr>
                      <a:r>
                        <a:rPr lang="en-US" sz="1250" dirty="0">
                          <a:solidFill>
                            <a:srgbClr val="CFE8EF"/>
                          </a:solidFill>
                          <a:latin typeface="Calibri" pitchFamily="34" charset="0"/>
                          <a:ea typeface="Calibri" pitchFamily="34" charset="-122"/>
                          <a:cs typeface="Calibri" pitchFamily="34" charset="-120"/>
                        </a:rPr>
                        <a:t>parse or test fail</a:t>
                      </a:r>
                      <a:endParaRPr lang="en-US" sz="1250" dirty="0">
                        <a:latin typeface="Calibri" charset="0"/>
                        <a:ea typeface="Calibri" charset="0"/>
                        <a:cs typeface="Calibri" charset="0"/>
                      </a:endParaRPr>
                    </a:p>
                  </a:txBody>
                  <a:tcPr marL="76200" marR="76200" marT="38100" marB="38100" anchor="ctr">
                    <a:lnL w="6350" cap="flat" cmpd="sng" algn="ctr">
                      <a:solidFill>
                        <a:srgbClr val="0A1A2F"/>
                      </a:solidFill>
                      <a:prstDash val="solid"/>
                      <a:round/>
                      <a:headEnd type="none" w="med" len="med"/>
                      <a:tailEnd type="none" w="med" len="med"/>
                    </a:lnL>
                    <a:lnR w="6350" cap="flat" cmpd="sng" algn="ctr">
                      <a:solidFill>
                        <a:srgbClr val="0A1A2F"/>
                      </a:solidFill>
                      <a:prstDash val="solid"/>
                      <a:round/>
                      <a:headEnd type="none" w="med" len="med"/>
                      <a:tailEnd type="none" w="med" len="med"/>
                    </a:lnR>
                    <a:lnT w="6350" cap="flat" cmpd="sng" algn="ctr">
                      <a:solidFill>
                        <a:srgbClr val="0A1A2F"/>
                      </a:solidFill>
                      <a:prstDash val="solid"/>
                      <a:round/>
                      <a:headEnd type="none" w="med" len="med"/>
                      <a:tailEnd type="none" w="med" len="med"/>
                    </a:lnT>
                    <a:lnB w="6350" cap="flat" cmpd="sng" algn="ctr">
                      <a:solidFill>
                        <a:srgbClr val="0A1A2F"/>
                      </a:solidFill>
                      <a:prstDash val="solid"/>
                      <a:round/>
                      <a:headEnd type="none" w="med" len="med"/>
                      <a:tailEnd type="none" w="med" len="med"/>
                    </a:lnB>
                    <a:solidFill>
                      <a:srgbClr val="0E2238"/>
                    </a:solidFill>
                  </a:tcPr>
                </a:tc>
              </a:tr>
            </a:tbl>
          </a:graphicData>
        </a:graphic>
      </p:graphicFrame>
      <p:sp>
        <p:nvSpPr>
          <p:cNvPr id="5" name="Text 2"/>
          <p:cNvSpPr/>
          <p:nvPr/>
        </p:nvSpPr>
        <p:spPr>
          <a:xfrm>
            <a:off x="640080" y="6172200"/>
            <a:ext cx="10881360" cy="365760"/>
          </a:xfrm>
          <a:prstGeom prst="rect">
            <a:avLst/>
          </a:prstGeom>
          <a:noFill/>
          <a:ln/>
        </p:spPr>
        <p:txBody>
          <a:bodyPr wrap="square" lIns="0" tIns="0" rIns="0" bIns="0" rtlCol="0" anchor="ctr"/>
          <a:lstStyle/>
          <a:p>
            <a:pPr indent="0" marL="0">
              <a:buNone/>
            </a:pPr>
            <a:r>
              <a:rPr lang="en-US" sz="1200" i="1" dirty="0">
                <a:solidFill>
                  <a:srgbClr val="7DE2D1"/>
                </a:solidFill>
                <a:latin typeface="Calibri" pitchFamily="34" charset="0"/>
                <a:ea typeface="Calibri" pitchFamily="34" charset="-122"/>
                <a:cs typeface="Calibri" pitchFamily="34" charset="-120"/>
              </a:rPr>
              <a:t>“Local ×2” = two independent samples must agree before the answer is trusted (the accuracy-gate guard).</a:t>
            </a:r>
            <a:endParaRPr lang="en-US" sz="1200" dirty="0"/>
          </a:p>
        </p:txBody>
      </p:sp>
      <p:sp>
        <p:nvSpPr>
          <p:cNvPr id="6" name="Text 3"/>
          <p:cNvSpPr/>
          <p:nvPr/>
        </p:nvSpPr>
        <p:spPr>
          <a:xfrm>
            <a:off x="11183112" y="6309360"/>
            <a:ext cx="640080" cy="274320"/>
          </a:xfrm>
          <a:prstGeom prst="rect">
            <a:avLst/>
          </a:prstGeom>
          <a:noFill/>
          <a:ln/>
        </p:spPr>
        <p:txBody>
          <a:bodyPr wrap="square" rtlCol="0" anchor="ctr"/>
          <a:lstStyle/>
          <a:p>
            <a:pPr algn="r" indent="0" marL="0">
              <a:buNone/>
            </a:pPr>
            <a:r>
              <a:rPr lang="en-US" sz="1000" dirty="0">
                <a:solidFill>
                  <a:srgbClr val="8AA6B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A2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300" b="1" spc="300" kern="0" dirty="0">
                <a:solidFill>
                  <a:srgbClr val="2EC4B6"/>
                </a:solidFill>
                <a:latin typeface="Calibri" pitchFamily="34" charset="0"/>
                <a:ea typeface="Calibri" pitchFamily="34" charset="-122"/>
                <a:cs typeface="Calibri" pitchFamily="34" charset="-120"/>
              </a:rPr>
              <a:t>END TO END, INSIDE THE CONTAINER</a:t>
            </a:r>
            <a:endParaRPr lang="en-US" sz="13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How one task moves through the agent</a:t>
            </a:r>
            <a:endParaRPr lang="en-US" sz="3400" dirty="0"/>
          </a:p>
        </p:txBody>
      </p:sp>
      <p:sp>
        <p:nvSpPr>
          <p:cNvPr id="4" name="Shape 2"/>
          <p:cNvSpPr/>
          <p:nvPr/>
        </p:nvSpPr>
        <p:spPr>
          <a:xfrm>
            <a:off x="640080" y="2377440"/>
            <a:ext cx="2194560" cy="1554480"/>
          </a:xfrm>
          <a:prstGeom prst="roundRect">
            <a:avLst>
              <a:gd name="adj" fmla="val 5294"/>
            </a:avLst>
          </a:prstGeom>
          <a:solidFill>
            <a:srgbClr val="112B45"/>
          </a:solidFill>
          <a:ln/>
          <a:effectLst>
            <a:outerShdw sx="100000" sy="100000" kx="0" ky="0" algn="bl" rotWithShape="0" blurRad="101600" dist="38100" dir="5400000">
              <a:srgbClr val="000000">
                <a:alpha val="28000"/>
              </a:srgbClr>
            </a:outerShdw>
          </a:effectLst>
        </p:spPr>
      </p:sp>
      <p:sp>
        <p:nvSpPr>
          <p:cNvPr id="5" name="Shape 3"/>
          <p:cNvSpPr/>
          <p:nvPr/>
        </p:nvSpPr>
        <p:spPr>
          <a:xfrm>
            <a:off x="1463040" y="2606040"/>
            <a:ext cx="548640" cy="548640"/>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6" name="Image 0" descr="preencoded.png">    </p:cNvPr>
          <p:cNvPicPr>
            <a:picLocks noChangeAspect="1"/>
          </p:cNvPicPr>
          <p:nvPr/>
        </p:nvPicPr>
        <p:blipFill>
          <a:blip r:embed="rId1"/>
          <a:stretch>
            <a:fillRect/>
          </a:stretch>
        </p:blipFill>
        <p:spPr>
          <a:xfrm>
            <a:off x="1605686" y="2748686"/>
            <a:ext cx="263347" cy="263347"/>
          </a:xfrm>
          <a:prstGeom prst="rect">
            <a:avLst/>
          </a:prstGeom>
        </p:spPr>
      </p:pic>
      <p:sp>
        <p:nvSpPr>
          <p:cNvPr id="7" name="Text 4"/>
          <p:cNvSpPr/>
          <p:nvPr/>
        </p:nvSpPr>
        <p:spPr>
          <a:xfrm>
            <a:off x="731520" y="3246120"/>
            <a:ext cx="201168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Read tasks</a:t>
            </a:r>
            <a:endParaRPr lang="en-US" sz="1500" dirty="0"/>
          </a:p>
        </p:txBody>
      </p:sp>
      <p:sp>
        <p:nvSpPr>
          <p:cNvPr id="8" name="Text 5"/>
          <p:cNvSpPr/>
          <p:nvPr/>
        </p:nvSpPr>
        <p:spPr>
          <a:xfrm>
            <a:off x="731520" y="3566160"/>
            <a:ext cx="2011680" cy="274320"/>
          </a:xfrm>
          <a:prstGeom prst="rect">
            <a:avLst/>
          </a:prstGeom>
          <a:noFill/>
          <a:ln/>
        </p:spPr>
        <p:txBody>
          <a:bodyPr wrap="square" lIns="0" tIns="0" rIns="0" bIns="0" rtlCol="0" anchor="ctr"/>
          <a:lstStyle/>
          <a:p>
            <a:pPr algn="ctr" indent="0" marL="0">
              <a:buNone/>
            </a:pPr>
            <a:r>
              <a:rPr lang="en-US" sz="1150" dirty="0">
                <a:solidFill>
                  <a:srgbClr val="CFE8EF"/>
                </a:solidFill>
                <a:latin typeface="Calibri" pitchFamily="34" charset="0"/>
                <a:ea typeface="Calibri" pitchFamily="34" charset="-122"/>
                <a:cs typeface="Calibri" pitchFamily="34" charset="-120"/>
              </a:rPr>
              <a:t>/input/tasks.json</a:t>
            </a:r>
            <a:endParaRPr lang="en-US" sz="1150" dirty="0"/>
          </a:p>
        </p:txBody>
      </p:sp>
      <p:sp>
        <p:nvSpPr>
          <p:cNvPr id="9" name="Shape 6"/>
          <p:cNvSpPr/>
          <p:nvPr/>
        </p:nvSpPr>
        <p:spPr>
          <a:xfrm>
            <a:off x="2834640" y="3154680"/>
            <a:ext cx="228600" cy="0"/>
          </a:xfrm>
          <a:prstGeom prst="line">
            <a:avLst/>
          </a:prstGeom>
          <a:noFill/>
          <a:ln w="31750">
            <a:solidFill>
              <a:srgbClr val="2EC4B6"/>
            </a:solidFill>
            <a:prstDash val="solid"/>
            <a:tailEnd type="triangle"/>
          </a:ln>
        </p:spPr>
      </p:sp>
      <p:sp>
        <p:nvSpPr>
          <p:cNvPr id="10" name="Shape 7"/>
          <p:cNvSpPr/>
          <p:nvPr/>
        </p:nvSpPr>
        <p:spPr>
          <a:xfrm>
            <a:off x="3063240" y="2377440"/>
            <a:ext cx="2194560" cy="1554480"/>
          </a:xfrm>
          <a:prstGeom prst="roundRect">
            <a:avLst>
              <a:gd name="adj" fmla="val 5294"/>
            </a:avLst>
          </a:prstGeom>
          <a:solidFill>
            <a:srgbClr val="112B45"/>
          </a:solidFill>
          <a:ln/>
          <a:effectLst>
            <a:outerShdw sx="100000" sy="100000" kx="0" ky="0" algn="bl" rotWithShape="0" blurRad="101600" dist="38100" dir="5400000">
              <a:srgbClr val="000000">
                <a:alpha val="28000"/>
              </a:srgbClr>
            </a:outerShdw>
          </a:effectLst>
        </p:spPr>
      </p:sp>
      <p:sp>
        <p:nvSpPr>
          <p:cNvPr id="11" name="Shape 8"/>
          <p:cNvSpPr/>
          <p:nvPr/>
        </p:nvSpPr>
        <p:spPr>
          <a:xfrm>
            <a:off x="3886200" y="2606040"/>
            <a:ext cx="548640" cy="548640"/>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12" name="Image 1" descr="preencoded.png">    </p:cNvPr>
          <p:cNvPicPr>
            <a:picLocks noChangeAspect="1"/>
          </p:cNvPicPr>
          <p:nvPr/>
        </p:nvPicPr>
        <p:blipFill>
          <a:blip r:embed="rId2"/>
          <a:stretch>
            <a:fillRect/>
          </a:stretch>
        </p:blipFill>
        <p:spPr>
          <a:xfrm>
            <a:off x="4028846" y="2748686"/>
            <a:ext cx="263347" cy="263347"/>
          </a:xfrm>
          <a:prstGeom prst="rect">
            <a:avLst/>
          </a:prstGeom>
        </p:spPr>
      </p:pic>
      <p:sp>
        <p:nvSpPr>
          <p:cNvPr id="13" name="Text 9"/>
          <p:cNvSpPr/>
          <p:nvPr/>
        </p:nvSpPr>
        <p:spPr>
          <a:xfrm>
            <a:off x="3154680" y="3246120"/>
            <a:ext cx="201168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Classify</a:t>
            </a:r>
            <a:endParaRPr lang="en-US" sz="1500" dirty="0"/>
          </a:p>
        </p:txBody>
      </p:sp>
      <p:sp>
        <p:nvSpPr>
          <p:cNvPr id="14" name="Text 10"/>
          <p:cNvSpPr/>
          <p:nvPr/>
        </p:nvSpPr>
        <p:spPr>
          <a:xfrm>
            <a:off x="3154680" y="3566160"/>
            <a:ext cx="2011680" cy="274320"/>
          </a:xfrm>
          <a:prstGeom prst="rect">
            <a:avLst/>
          </a:prstGeom>
          <a:noFill/>
          <a:ln/>
        </p:spPr>
        <p:txBody>
          <a:bodyPr wrap="square" lIns="0" tIns="0" rIns="0" bIns="0" rtlCol="0" anchor="ctr"/>
          <a:lstStyle/>
          <a:p>
            <a:pPr algn="ctr" indent="0" marL="0">
              <a:buNone/>
            </a:pPr>
            <a:r>
              <a:rPr lang="en-US" sz="1150" dirty="0">
                <a:solidFill>
                  <a:srgbClr val="CFE8EF"/>
                </a:solidFill>
                <a:latin typeface="Calibri" pitchFamily="34" charset="0"/>
                <a:ea typeface="Calibri" pitchFamily="34" charset="-122"/>
                <a:cs typeface="Calibri" pitchFamily="34" charset="-120"/>
              </a:rPr>
              <a:t>8 categories, 0 tokens</a:t>
            </a:r>
            <a:endParaRPr lang="en-US" sz="1150" dirty="0"/>
          </a:p>
        </p:txBody>
      </p:sp>
      <p:sp>
        <p:nvSpPr>
          <p:cNvPr id="15" name="Shape 11"/>
          <p:cNvSpPr/>
          <p:nvPr/>
        </p:nvSpPr>
        <p:spPr>
          <a:xfrm>
            <a:off x="5257800" y="3154680"/>
            <a:ext cx="228600" cy="0"/>
          </a:xfrm>
          <a:prstGeom prst="line">
            <a:avLst/>
          </a:prstGeom>
          <a:noFill/>
          <a:ln w="31750">
            <a:solidFill>
              <a:srgbClr val="2EC4B6"/>
            </a:solidFill>
            <a:prstDash val="solid"/>
            <a:tailEnd type="triangle"/>
          </a:ln>
        </p:spPr>
      </p:sp>
      <p:sp>
        <p:nvSpPr>
          <p:cNvPr id="16" name="Shape 12"/>
          <p:cNvSpPr/>
          <p:nvPr/>
        </p:nvSpPr>
        <p:spPr>
          <a:xfrm>
            <a:off x="5486400" y="2377440"/>
            <a:ext cx="2194560" cy="1554480"/>
          </a:xfrm>
          <a:prstGeom prst="roundRect">
            <a:avLst>
              <a:gd name="adj" fmla="val 5294"/>
            </a:avLst>
          </a:prstGeom>
          <a:solidFill>
            <a:srgbClr val="112B45"/>
          </a:solidFill>
          <a:ln/>
          <a:effectLst>
            <a:outerShdw sx="100000" sy="100000" kx="0" ky="0" algn="bl" rotWithShape="0" blurRad="101600" dist="38100" dir="5400000">
              <a:srgbClr val="000000">
                <a:alpha val="28000"/>
              </a:srgbClr>
            </a:outerShdw>
          </a:effectLst>
        </p:spPr>
      </p:sp>
      <p:sp>
        <p:nvSpPr>
          <p:cNvPr id="17" name="Shape 13"/>
          <p:cNvSpPr/>
          <p:nvPr/>
        </p:nvSpPr>
        <p:spPr>
          <a:xfrm>
            <a:off x="6309360" y="2606040"/>
            <a:ext cx="548640" cy="548640"/>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18" name="Image 2" descr="preencoded.png">    </p:cNvPr>
          <p:cNvPicPr>
            <a:picLocks noChangeAspect="1"/>
          </p:cNvPicPr>
          <p:nvPr/>
        </p:nvPicPr>
        <p:blipFill>
          <a:blip r:embed="rId3"/>
          <a:stretch>
            <a:fillRect/>
          </a:stretch>
        </p:blipFill>
        <p:spPr>
          <a:xfrm>
            <a:off x="6452006" y="2748686"/>
            <a:ext cx="263347" cy="263347"/>
          </a:xfrm>
          <a:prstGeom prst="rect">
            <a:avLst/>
          </a:prstGeom>
        </p:spPr>
      </p:pic>
      <p:sp>
        <p:nvSpPr>
          <p:cNvPr id="19" name="Text 14"/>
          <p:cNvSpPr/>
          <p:nvPr/>
        </p:nvSpPr>
        <p:spPr>
          <a:xfrm>
            <a:off x="5577840" y="3246120"/>
            <a:ext cx="201168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Local solve</a:t>
            </a:r>
            <a:endParaRPr lang="en-US" sz="1500" dirty="0"/>
          </a:p>
        </p:txBody>
      </p:sp>
      <p:sp>
        <p:nvSpPr>
          <p:cNvPr id="20" name="Text 15"/>
          <p:cNvSpPr/>
          <p:nvPr/>
        </p:nvSpPr>
        <p:spPr>
          <a:xfrm>
            <a:off x="5577840" y="3566160"/>
            <a:ext cx="2011680" cy="274320"/>
          </a:xfrm>
          <a:prstGeom prst="rect">
            <a:avLst/>
          </a:prstGeom>
          <a:noFill/>
          <a:ln/>
        </p:spPr>
        <p:txBody>
          <a:bodyPr wrap="square" lIns="0" tIns="0" rIns="0" bIns="0" rtlCol="0" anchor="ctr"/>
          <a:lstStyle/>
          <a:p>
            <a:pPr algn="ctr" indent="0" marL="0">
              <a:buNone/>
            </a:pPr>
            <a:r>
              <a:rPr lang="en-US" sz="1150" dirty="0">
                <a:solidFill>
                  <a:srgbClr val="CFE8EF"/>
                </a:solidFill>
                <a:latin typeface="Calibri" pitchFamily="34" charset="0"/>
                <a:ea typeface="Calibri" pitchFamily="34" charset="-122"/>
                <a:cs typeface="Calibri" pitchFamily="34" charset="-120"/>
              </a:rPr>
              <a:t>free, verified</a:t>
            </a:r>
            <a:endParaRPr lang="en-US" sz="1150" dirty="0"/>
          </a:p>
        </p:txBody>
      </p:sp>
      <p:sp>
        <p:nvSpPr>
          <p:cNvPr id="21" name="Shape 16"/>
          <p:cNvSpPr/>
          <p:nvPr/>
        </p:nvSpPr>
        <p:spPr>
          <a:xfrm>
            <a:off x="7680960" y="3154680"/>
            <a:ext cx="228600" cy="0"/>
          </a:xfrm>
          <a:prstGeom prst="line">
            <a:avLst/>
          </a:prstGeom>
          <a:noFill/>
          <a:ln w="31750">
            <a:solidFill>
              <a:srgbClr val="2EC4B6"/>
            </a:solidFill>
            <a:prstDash val="solid"/>
            <a:tailEnd type="triangle"/>
          </a:ln>
        </p:spPr>
      </p:sp>
      <p:sp>
        <p:nvSpPr>
          <p:cNvPr id="22" name="Shape 17"/>
          <p:cNvSpPr/>
          <p:nvPr/>
        </p:nvSpPr>
        <p:spPr>
          <a:xfrm>
            <a:off x="7909560" y="2377440"/>
            <a:ext cx="2194560" cy="1554480"/>
          </a:xfrm>
          <a:prstGeom prst="roundRect">
            <a:avLst>
              <a:gd name="adj" fmla="val 5294"/>
            </a:avLst>
          </a:prstGeom>
          <a:solidFill>
            <a:srgbClr val="112B45"/>
          </a:solidFill>
          <a:ln/>
          <a:effectLst>
            <a:outerShdw sx="100000" sy="100000" kx="0" ky="0" algn="bl" rotWithShape="0" blurRad="101600" dist="38100" dir="5400000">
              <a:srgbClr val="000000">
                <a:alpha val="28000"/>
              </a:srgbClr>
            </a:outerShdw>
          </a:effectLst>
        </p:spPr>
      </p:sp>
      <p:sp>
        <p:nvSpPr>
          <p:cNvPr id="23" name="Shape 18"/>
          <p:cNvSpPr/>
          <p:nvPr/>
        </p:nvSpPr>
        <p:spPr>
          <a:xfrm>
            <a:off x="8732520" y="2606040"/>
            <a:ext cx="548640" cy="548640"/>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24" name="Image 3" descr="preencoded.png">    </p:cNvPr>
          <p:cNvPicPr>
            <a:picLocks noChangeAspect="1"/>
          </p:cNvPicPr>
          <p:nvPr/>
        </p:nvPicPr>
        <p:blipFill>
          <a:blip r:embed="rId4"/>
          <a:stretch>
            <a:fillRect/>
          </a:stretch>
        </p:blipFill>
        <p:spPr>
          <a:xfrm>
            <a:off x="8875166" y="2748686"/>
            <a:ext cx="263347" cy="263347"/>
          </a:xfrm>
          <a:prstGeom prst="rect">
            <a:avLst/>
          </a:prstGeom>
        </p:spPr>
      </p:pic>
      <p:sp>
        <p:nvSpPr>
          <p:cNvPr id="25" name="Text 19"/>
          <p:cNvSpPr/>
          <p:nvPr/>
        </p:nvSpPr>
        <p:spPr>
          <a:xfrm>
            <a:off x="8001000" y="3246120"/>
            <a:ext cx="201168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Verify</a:t>
            </a:r>
            <a:endParaRPr lang="en-US" sz="1500" dirty="0"/>
          </a:p>
        </p:txBody>
      </p:sp>
      <p:sp>
        <p:nvSpPr>
          <p:cNvPr id="26" name="Text 20"/>
          <p:cNvSpPr/>
          <p:nvPr/>
        </p:nvSpPr>
        <p:spPr>
          <a:xfrm>
            <a:off x="8001000" y="3566160"/>
            <a:ext cx="2011680" cy="274320"/>
          </a:xfrm>
          <a:prstGeom prst="rect">
            <a:avLst/>
          </a:prstGeom>
          <a:noFill/>
          <a:ln/>
        </p:spPr>
        <p:txBody>
          <a:bodyPr wrap="square" lIns="0" tIns="0" rIns="0" bIns="0" rtlCol="0" anchor="ctr"/>
          <a:lstStyle/>
          <a:p>
            <a:pPr algn="ctr" indent="0" marL="0">
              <a:buNone/>
            </a:pPr>
            <a:r>
              <a:rPr lang="en-US" sz="1150" dirty="0">
                <a:solidFill>
                  <a:srgbClr val="CFE8EF"/>
                </a:solidFill>
                <a:latin typeface="Calibri" pitchFamily="34" charset="0"/>
                <a:ea typeface="Calibri" pitchFamily="34" charset="-122"/>
                <a:cs typeface="Calibri" pitchFamily="34" charset="-120"/>
              </a:rPr>
              <a:t>deterministic</a:t>
            </a:r>
            <a:endParaRPr lang="en-US" sz="1150" dirty="0"/>
          </a:p>
        </p:txBody>
      </p:sp>
      <p:sp>
        <p:nvSpPr>
          <p:cNvPr id="27" name="Shape 21"/>
          <p:cNvSpPr/>
          <p:nvPr/>
        </p:nvSpPr>
        <p:spPr>
          <a:xfrm>
            <a:off x="9006840" y="3931920"/>
            <a:ext cx="0" cy="502920"/>
          </a:xfrm>
          <a:prstGeom prst="line">
            <a:avLst/>
          </a:prstGeom>
          <a:noFill/>
          <a:ln w="31750">
            <a:solidFill>
              <a:srgbClr val="2EC4B6"/>
            </a:solidFill>
            <a:prstDash val="solid"/>
            <a:tailEnd type="triangle"/>
          </a:ln>
        </p:spPr>
      </p:sp>
      <p:sp>
        <p:nvSpPr>
          <p:cNvPr id="28" name="Shape 22"/>
          <p:cNvSpPr/>
          <p:nvPr/>
        </p:nvSpPr>
        <p:spPr>
          <a:xfrm>
            <a:off x="5486400" y="4434840"/>
            <a:ext cx="2194560" cy="1371600"/>
          </a:xfrm>
          <a:prstGeom prst="roundRect">
            <a:avLst>
              <a:gd name="adj" fmla="val 6000"/>
            </a:avLst>
          </a:prstGeom>
          <a:solidFill>
            <a:srgbClr val="16513A"/>
          </a:solidFill>
          <a:ln/>
          <a:effectLst>
            <a:outerShdw sx="100000" sy="100000" kx="0" ky="0" algn="bl" rotWithShape="0" blurRad="101600" dist="38100" dir="5400000">
              <a:srgbClr val="000000">
                <a:alpha val="28000"/>
              </a:srgbClr>
            </a:outerShdw>
          </a:effectLst>
        </p:spPr>
      </p:sp>
      <p:sp>
        <p:nvSpPr>
          <p:cNvPr id="29" name="Text 23"/>
          <p:cNvSpPr/>
          <p:nvPr/>
        </p:nvSpPr>
        <p:spPr>
          <a:xfrm>
            <a:off x="5577840" y="4617720"/>
            <a:ext cx="2011680" cy="365760"/>
          </a:xfrm>
          <a:prstGeom prst="rect">
            <a:avLst/>
          </a:prstGeom>
          <a:noFill/>
          <a:ln/>
        </p:spPr>
        <p:txBody>
          <a:bodyPr wrap="square" lIns="0" tIns="0" rIns="0" bIns="0" rtlCol="0" anchor="ctr"/>
          <a:lstStyle/>
          <a:p>
            <a:pPr algn="ctr" indent="0" marL="0">
              <a:buNone/>
            </a:pPr>
            <a:r>
              <a:rPr lang="en-US" sz="1450" b="1" dirty="0">
                <a:solidFill>
                  <a:srgbClr val="7DE2D1"/>
                </a:solidFill>
                <a:latin typeface="Cambria" pitchFamily="34" charset="0"/>
                <a:ea typeface="Cambria" pitchFamily="34" charset="-122"/>
                <a:cs typeface="Cambria" pitchFamily="34" charset="-120"/>
              </a:rPr>
              <a:t>Pass → keep</a:t>
            </a:r>
            <a:endParaRPr lang="en-US" sz="1450" dirty="0"/>
          </a:p>
        </p:txBody>
      </p:sp>
      <p:sp>
        <p:nvSpPr>
          <p:cNvPr id="30" name="Text 24"/>
          <p:cNvSpPr/>
          <p:nvPr/>
        </p:nvSpPr>
        <p:spPr>
          <a:xfrm>
            <a:off x="5577840" y="5029200"/>
            <a:ext cx="2011680" cy="457200"/>
          </a:xfrm>
          <a:prstGeom prst="rect">
            <a:avLst/>
          </a:prstGeom>
          <a:noFill/>
          <a:ln/>
        </p:spPr>
        <p:txBody>
          <a:bodyPr wrap="square" lIns="0" tIns="0" rIns="0" bIns="0" rtlCol="0" anchor="ctr"/>
          <a:lstStyle/>
          <a:p>
            <a:pPr algn="ctr" indent="0" marL="0">
              <a:buNone/>
            </a:pPr>
            <a:r>
              <a:rPr lang="en-US" sz="1200" dirty="0">
                <a:solidFill>
                  <a:srgbClr val="CFE8EF"/>
                </a:solidFill>
                <a:latin typeface="Calibri" pitchFamily="34" charset="0"/>
                <a:ea typeface="Calibri" pitchFamily="34" charset="-122"/>
                <a:cs typeface="Calibri" pitchFamily="34" charset="-120"/>
              </a:rPr>
              <a:t>zero remote tokens</a:t>
            </a:r>
            <a:endParaRPr lang="en-US" sz="1200" dirty="0"/>
          </a:p>
        </p:txBody>
      </p:sp>
      <p:sp>
        <p:nvSpPr>
          <p:cNvPr id="31" name="Shape 25"/>
          <p:cNvSpPr/>
          <p:nvPr/>
        </p:nvSpPr>
        <p:spPr>
          <a:xfrm>
            <a:off x="7909560" y="4434840"/>
            <a:ext cx="3611880" cy="1371600"/>
          </a:xfrm>
          <a:prstGeom prst="roundRect">
            <a:avLst>
              <a:gd name="adj" fmla="val 6000"/>
            </a:avLst>
          </a:prstGeom>
          <a:solidFill>
            <a:srgbClr val="5A2A2A"/>
          </a:solidFill>
          <a:ln/>
          <a:effectLst>
            <a:outerShdw sx="100000" sy="100000" kx="0" ky="0" algn="bl" rotWithShape="0" blurRad="101600" dist="38100" dir="5400000">
              <a:srgbClr val="000000">
                <a:alpha val="28000"/>
              </a:srgbClr>
            </a:outerShdw>
          </a:effectLst>
        </p:spPr>
      </p:sp>
      <p:sp>
        <p:nvSpPr>
          <p:cNvPr id="32" name="Shape 26"/>
          <p:cNvSpPr/>
          <p:nvPr/>
        </p:nvSpPr>
        <p:spPr>
          <a:xfrm>
            <a:off x="8138160" y="4681728"/>
            <a:ext cx="502920" cy="502920"/>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33" name="Image 4" descr="preencoded.png">    </p:cNvPr>
          <p:cNvPicPr>
            <a:picLocks noChangeAspect="1"/>
          </p:cNvPicPr>
          <p:nvPr/>
        </p:nvPicPr>
        <p:blipFill>
          <a:blip r:embed="rId5"/>
          <a:stretch>
            <a:fillRect/>
          </a:stretch>
        </p:blipFill>
        <p:spPr>
          <a:xfrm>
            <a:off x="8268919" y="4812487"/>
            <a:ext cx="241402" cy="241402"/>
          </a:xfrm>
          <a:prstGeom prst="rect">
            <a:avLst/>
          </a:prstGeom>
        </p:spPr>
      </p:pic>
      <p:sp>
        <p:nvSpPr>
          <p:cNvPr id="34" name="Text 27"/>
          <p:cNvSpPr/>
          <p:nvPr/>
        </p:nvSpPr>
        <p:spPr>
          <a:xfrm>
            <a:off x="8778240" y="4617720"/>
            <a:ext cx="265176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Fail → escalate once</a:t>
            </a:r>
            <a:endParaRPr lang="en-US" sz="1450" dirty="0"/>
          </a:p>
        </p:txBody>
      </p:sp>
      <p:sp>
        <p:nvSpPr>
          <p:cNvPr id="35" name="Text 28"/>
          <p:cNvSpPr/>
          <p:nvPr/>
        </p:nvSpPr>
        <p:spPr>
          <a:xfrm>
            <a:off x="8796528" y="5010912"/>
            <a:ext cx="2651760" cy="640080"/>
          </a:xfrm>
          <a:prstGeom prst="rect">
            <a:avLst/>
          </a:prstGeom>
          <a:noFill/>
          <a:ln/>
        </p:spPr>
        <p:txBody>
          <a:bodyPr wrap="square" lIns="0" tIns="0" rIns="0" bIns="0" rtlCol="0" anchor="ctr"/>
          <a:lstStyle/>
          <a:p>
            <a:pPr indent="0" marL="0">
              <a:buNone/>
            </a:pPr>
            <a:r>
              <a:rPr lang="en-US" sz="1150" dirty="0">
                <a:solidFill>
                  <a:srgbClr val="CFE8EF"/>
                </a:solidFill>
                <a:latin typeface="Calibri" pitchFamily="34" charset="0"/>
                <a:ea typeface="Calibri" pitchFamily="34" charset="-122"/>
                <a:cs typeface="Calibri" pitchFamily="34" charset="-120"/>
              </a:rPr>
              <a:t>minimal Fireworks call: t=0, capped tokens, Gemma or strongest model</a:t>
            </a:r>
            <a:endParaRPr lang="en-US" sz="1150" dirty="0"/>
          </a:p>
        </p:txBody>
      </p:sp>
      <p:sp>
        <p:nvSpPr>
          <p:cNvPr id="36" name="Shape 29"/>
          <p:cNvSpPr/>
          <p:nvPr/>
        </p:nvSpPr>
        <p:spPr>
          <a:xfrm>
            <a:off x="7680960" y="4709160"/>
            <a:ext cx="228600" cy="0"/>
          </a:xfrm>
          <a:prstGeom prst="line">
            <a:avLst/>
          </a:prstGeom>
          <a:noFill/>
          <a:ln w="31750">
            <a:solidFill>
              <a:srgbClr val="E76F63"/>
            </a:solidFill>
            <a:prstDash val="solid"/>
            <a:tailEnd type="triangle"/>
          </a:ln>
        </p:spPr>
      </p:sp>
      <p:sp>
        <p:nvSpPr>
          <p:cNvPr id="37" name="Text 30"/>
          <p:cNvSpPr/>
          <p:nvPr/>
        </p:nvSpPr>
        <p:spPr>
          <a:xfrm>
            <a:off x="640080" y="6080760"/>
            <a:ext cx="10881360" cy="365760"/>
          </a:xfrm>
          <a:prstGeom prst="rect">
            <a:avLst/>
          </a:prstGeom>
          <a:noFill/>
          <a:ln/>
        </p:spPr>
        <p:txBody>
          <a:bodyPr wrap="square" lIns="0" tIns="0" rIns="0" bIns="0" rtlCol="0" anchor="ctr"/>
          <a:lstStyle/>
          <a:p>
            <a:pPr indent="0" marL="0">
              <a:buNone/>
            </a:pPr>
            <a:r>
              <a:rPr lang="en-US" sz="1300" i="1" dirty="0">
                <a:solidFill>
                  <a:srgbClr val="8AA6B8"/>
                </a:solidFill>
                <a:latin typeface="Calibri" pitchFamily="34" charset="0"/>
                <a:ea typeface="Calibri" pitchFamily="34" charset="-122"/>
                <a:cs typeface="Calibri" pitchFamily="34" charset="-120"/>
              </a:rPr>
              <a:t>→  All answers written atomically to /output/results.json, exit 0, under 10 minutes.</a:t>
            </a:r>
            <a:endParaRPr lang="en-US" sz="1300" dirty="0"/>
          </a:p>
        </p:txBody>
      </p:sp>
      <p:sp>
        <p:nvSpPr>
          <p:cNvPr id="38" name="Text 31"/>
          <p:cNvSpPr/>
          <p:nvPr/>
        </p:nvSpPr>
        <p:spPr>
          <a:xfrm>
            <a:off x="11183112" y="6309360"/>
            <a:ext cx="640080" cy="274320"/>
          </a:xfrm>
          <a:prstGeom prst="rect">
            <a:avLst/>
          </a:prstGeom>
          <a:noFill/>
          <a:ln/>
        </p:spPr>
        <p:txBody>
          <a:bodyPr wrap="square" rtlCol="0" anchor="ctr"/>
          <a:lstStyle/>
          <a:p>
            <a:pPr algn="r" indent="0" marL="0">
              <a:buNone/>
            </a:pPr>
            <a:r>
              <a:rPr lang="en-US" sz="1000" dirty="0">
                <a:solidFill>
                  <a:srgbClr val="8AA6B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A2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300" b="1" spc="300" kern="0" dirty="0">
                <a:solidFill>
                  <a:srgbClr val="2EC4B6"/>
                </a:solidFill>
                <a:latin typeface="Calibri" pitchFamily="34" charset="0"/>
                <a:ea typeface="Calibri" pitchFamily="34" charset="-122"/>
                <a:cs typeface="Calibri" pitchFamily="34" charset="-120"/>
              </a:rPr>
              <a:t>WHAT WE DON'T KNOW — AND DESIGN AROUND</a:t>
            </a:r>
            <a:endParaRPr lang="en-US" sz="13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Three honest unknowns, three built-in hedges</a:t>
            </a:r>
            <a:endParaRPr lang="en-US" sz="3400" dirty="0"/>
          </a:p>
        </p:txBody>
      </p:sp>
      <p:sp>
        <p:nvSpPr>
          <p:cNvPr id="4" name="Shape 2"/>
          <p:cNvSpPr/>
          <p:nvPr/>
        </p:nvSpPr>
        <p:spPr>
          <a:xfrm>
            <a:off x="640080" y="2240280"/>
            <a:ext cx="10881360" cy="1170432"/>
          </a:xfrm>
          <a:prstGeom prst="roundRect">
            <a:avLst>
              <a:gd name="adj" fmla="val 7031"/>
            </a:avLst>
          </a:prstGeom>
          <a:solidFill>
            <a:srgbClr val="112B45"/>
          </a:solidFill>
          <a:ln/>
          <a:effectLst>
            <a:outerShdw sx="100000" sy="100000" kx="0" ky="0" algn="bl" rotWithShape="0" blurRad="101600" dist="38100" dir="5400000">
              <a:srgbClr val="000000">
                <a:alpha val="28000"/>
              </a:srgbClr>
            </a:outerShdw>
          </a:effectLst>
        </p:spPr>
      </p:sp>
      <p:sp>
        <p:nvSpPr>
          <p:cNvPr id="5" name="Shape 3"/>
          <p:cNvSpPr/>
          <p:nvPr/>
        </p:nvSpPr>
        <p:spPr>
          <a:xfrm>
            <a:off x="914400" y="2542032"/>
            <a:ext cx="566928" cy="566928"/>
          </a:xfrm>
          <a:prstGeom prst="ellipse">
            <a:avLst/>
          </a:prstGeom>
          <a:solidFill>
            <a:srgbClr val="7A4A1F"/>
          </a:solidFill>
          <a:ln/>
          <a:effectLst>
            <a:outerShdw sx="100000" sy="100000" kx="0" ky="0" algn="bl" rotWithShape="0" blurRad="101600" dist="38100" dir="5400000">
              <a:srgbClr val="000000">
                <a:alpha val="28000"/>
              </a:srgbClr>
            </a:outerShdw>
          </a:effectLst>
        </p:spPr>
      </p:sp>
      <p:pic>
        <p:nvPicPr>
          <p:cNvPr id="6" name="Image 0" descr="preencoded.png">    </p:cNvPr>
          <p:cNvPicPr>
            <a:picLocks noChangeAspect="1"/>
          </p:cNvPicPr>
          <p:nvPr/>
        </p:nvPicPr>
        <p:blipFill>
          <a:blip r:embed="rId1"/>
          <a:stretch>
            <a:fillRect/>
          </a:stretch>
        </p:blipFill>
        <p:spPr>
          <a:xfrm>
            <a:off x="1061801" y="2689433"/>
            <a:ext cx="272125" cy="272125"/>
          </a:xfrm>
          <a:prstGeom prst="rect">
            <a:avLst/>
          </a:prstGeom>
        </p:spPr>
      </p:pic>
      <p:sp>
        <p:nvSpPr>
          <p:cNvPr id="7" name="Text 4"/>
          <p:cNvSpPr/>
          <p:nvPr/>
        </p:nvSpPr>
        <p:spPr>
          <a:xfrm>
            <a:off x="1691640" y="2441448"/>
            <a:ext cx="45720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Scoring hardware</a:t>
            </a:r>
            <a:endParaRPr lang="en-US" sz="1700" dirty="0"/>
          </a:p>
        </p:txBody>
      </p:sp>
      <p:sp>
        <p:nvSpPr>
          <p:cNvPr id="8" name="Text 5"/>
          <p:cNvSpPr/>
          <p:nvPr/>
        </p:nvSpPr>
        <p:spPr>
          <a:xfrm>
            <a:off x="1709928" y="2898648"/>
            <a:ext cx="4572000" cy="45720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Standardized but unpublished — could be CPU-only or GPU.</a:t>
            </a:r>
            <a:endParaRPr lang="en-US" sz="1250" dirty="0"/>
          </a:p>
        </p:txBody>
      </p:sp>
      <p:sp>
        <p:nvSpPr>
          <p:cNvPr id="9" name="Shape 6"/>
          <p:cNvSpPr/>
          <p:nvPr/>
        </p:nvSpPr>
        <p:spPr>
          <a:xfrm>
            <a:off x="6492240" y="2423160"/>
            <a:ext cx="0" cy="804672"/>
          </a:xfrm>
          <a:prstGeom prst="line">
            <a:avLst/>
          </a:prstGeom>
          <a:noFill/>
          <a:ln w="19050">
            <a:solidFill>
              <a:srgbClr val="1C7293"/>
            </a:solidFill>
            <a:prstDash val="solid"/>
          </a:ln>
        </p:spPr>
      </p:sp>
      <p:sp>
        <p:nvSpPr>
          <p:cNvPr id="10" name="Text 7"/>
          <p:cNvSpPr/>
          <p:nvPr/>
        </p:nvSpPr>
        <p:spPr>
          <a:xfrm>
            <a:off x="6720840" y="2459736"/>
            <a:ext cx="1097280" cy="27432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HEDGE</a:t>
            </a:r>
            <a:endParaRPr lang="en-US" sz="1000" dirty="0"/>
          </a:p>
        </p:txBody>
      </p:sp>
      <p:sp>
        <p:nvSpPr>
          <p:cNvPr id="11" name="Text 8"/>
          <p:cNvSpPr/>
          <p:nvPr/>
        </p:nvSpPr>
        <p:spPr>
          <a:xfrm>
            <a:off x="6720840" y="2743200"/>
            <a:ext cx="4663440" cy="548640"/>
          </a:xfrm>
          <a:prstGeom prst="rect">
            <a:avLst/>
          </a:prstGeom>
          <a:noFill/>
          <a:ln/>
        </p:spPr>
        <p:txBody>
          <a:bodyPr wrap="square" lIns="0" tIns="0" rIns="0" bIns="0" rtlCol="0" anchor="ctr"/>
          <a:lstStyle/>
          <a:p>
            <a:pPr indent="0" marL="0">
              <a:buNone/>
            </a:pPr>
            <a:r>
              <a:rPr lang="en-US" sz="1300" dirty="0">
                <a:solidFill>
                  <a:srgbClr val="7DE2D1"/>
                </a:solidFill>
                <a:latin typeface="Calibri" pitchFamily="34" charset="0"/>
                <a:ea typeface="Calibri" pitchFamily="34" charset="-122"/>
                <a:cs typeface="Calibri" pitchFamily="34" charset="-120"/>
              </a:rPr>
              <a:t>Startup throughput probe + graceful degradation to remote.</a:t>
            </a:r>
            <a:endParaRPr lang="en-US" sz="1300" dirty="0"/>
          </a:p>
        </p:txBody>
      </p:sp>
      <p:sp>
        <p:nvSpPr>
          <p:cNvPr id="12" name="Shape 9"/>
          <p:cNvSpPr/>
          <p:nvPr/>
        </p:nvSpPr>
        <p:spPr>
          <a:xfrm>
            <a:off x="640080" y="3538728"/>
            <a:ext cx="10881360" cy="1170432"/>
          </a:xfrm>
          <a:prstGeom prst="roundRect">
            <a:avLst>
              <a:gd name="adj" fmla="val 7031"/>
            </a:avLst>
          </a:prstGeom>
          <a:solidFill>
            <a:srgbClr val="112B45"/>
          </a:solidFill>
          <a:ln/>
          <a:effectLst>
            <a:outerShdw sx="100000" sy="100000" kx="0" ky="0" algn="bl" rotWithShape="0" blurRad="101600" dist="38100" dir="5400000">
              <a:srgbClr val="000000">
                <a:alpha val="28000"/>
              </a:srgbClr>
            </a:outerShdw>
          </a:effectLst>
        </p:spPr>
      </p:sp>
      <p:sp>
        <p:nvSpPr>
          <p:cNvPr id="13" name="Shape 10"/>
          <p:cNvSpPr/>
          <p:nvPr/>
        </p:nvSpPr>
        <p:spPr>
          <a:xfrm>
            <a:off x="914400" y="3840480"/>
            <a:ext cx="566928" cy="566928"/>
          </a:xfrm>
          <a:prstGeom prst="ellipse">
            <a:avLst/>
          </a:prstGeom>
          <a:solidFill>
            <a:srgbClr val="7A4A1F"/>
          </a:solidFill>
          <a:ln/>
          <a:effectLst>
            <a:outerShdw sx="100000" sy="100000" kx="0" ky="0" algn="bl" rotWithShape="0" blurRad="101600" dist="38100" dir="5400000">
              <a:srgbClr val="000000">
                <a:alpha val="28000"/>
              </a:srgbClr>
            </a:outerShdw>
          </a:effectLst>
        </p:spPr>
      </p:sp>
      <p:pic>
        <p:nvPicPr>
          <p:cNvPr id="14" name="Image 1" descr="preencoded.png">    </p:cNvPr>
          <p:cNvPicPr>
            <a:picLocks noChangeAspect="1"/>
          </p:cNvPicPr>
          <p:nvPr/>
        </p:nvPicPr>
        <p:blipFill>
          <a:blip r:embed="rId2"/>
          <a:stretch>
            <a:fillRect/>
          </a:stretch>
        </p:blipFill>
        <p:spPr>
          <a:xfrm>
            <a:off x="1061801" y="3987881"/>
            <a:ext cx="272125" cy="272125"/>
          </a:xfrm>
          <a:prstGeom prst="rect">
            <a:avLst/>
          </a:prstGeom>
        </p:spPr>
      </p:pic>
      <p:sp>
        <p:nvSpPr>
          <p:cNvPr id="15" name="Text 11"/>
          <p:cNvSpPr/>
          <p:nvPr/>
        </p:nvSpPr>
        <p:spPr>
          <a:xfrm>
            <a:off x="1691640" y="3739896"/>
            <a:ext cx="45720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Is local inference fully allowed?</a:t>
            </a:r>
            <a:endParaRPr lang="en-US" sz="1700" dirty="0"/>
          </a:p>
        </p:txBody>
      </p:sp>
      <p:sp>
        <p:nvSpPr>
          <p:cNvPr id="16" name="Text 12"/>
          <p:cNvSpPr/>
          <p:nvPr/>
        </p:nvSpPr>
        <p:spPr>
          <a:xfrm>
            <a:off x="1709928" y="4197096"/>
            <a:ext cx="4572000" cy="45720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Track rewards hybrid; one guide line is ambiguous.</a:t>
            </a:r>
            <a:endParaRPr lang="en-US" sz="1250" dirty="0"/>
          </a:p>
        </p:txBody>
      </p:sp>
      <p:sp>
        <p:nvSpPr>
          <p:cNvPr id="17" name="Shape 13"/>
          <p:cNvSpPr/>
          <p:nvPr/>
        </p:nvSpPr>
        <p:spPr>
          <a:xfrm>
            <a:off x="6492240" y="3721608"/>
            <a:ext cx="0" cy="804672"/>
          </a:xfrm>
          <a:prstGeom prst="line">
            <a:avLst/>
          </a:prstGeom>
          <a:noFill/>
          <a:ln w="19050">
            <a:solidFill>
              <a:srgbClr val="1C7293"/>
            </a:solidFill>
            <a:prstDash val="solid"/>
          </a:ln>
        </p:spPr>
      </p:sp>
      <p:sp>
        <p:nvSpPr>
          <p:cNvPr id="18" name="Text 14"/>
          <p:cNvSpPr/>
          <p:nvPr/>
        </p:nvSpPr>
        <p:spPr>
          <a:xfrm>
            <a:off x="6720840" y="3758184"/>
            <a:ext cx="1097280" cy="27432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HEDGE</a:t>
            </a:r>
            <a:endParaRPr lang="en-US" sz="1000" dirty="0"/>
          </a:p>
        </p:txBody>
      </p:sp>
      <p:sp>
        <p:nvSpPr>
          <p:cNvPr id="19" name="Text 15"/>
          <p:cNvSpPr/>
          <p:nvPr/>
        </p:nvSpPr>
        <p:spPr>
          <a:xfrm>
            <a:off x="6720840" y="4041648"/>
            <a:ext cx="4663440" cy="548640"/>
          </a:xfrm>
          <a:prstGeom prst="rect">
            <a:avLst/>
          </a:prstGeom>
          <a:noFill/>
          <a:ln/>
        </p:spPr>
        <p:txBody>
          <a:bodyPr wrap="square" lIns="0" tIns="0" rIns="0" bIns="0" rtlCol="0" anchor="ctr"/>
          <a:lstStyle/>
          <a:p>
            <a:pPr indent="0" marL="0">
              <a:buNone/>
            </a:pPr>
            <a:r>
              <a:rPr lang="en-US" sz="1300" dirty="0">
                <a:solidFill>
                  <a:srgbClr val="7DE2D1"/>
                </a:solidFill>
                <a:latin typeface="Calibri" pitchFamily="34" charset="0"/>
                <a:ea typeface="Calibri" pitchFamily="34" charset="-122"/>
                <a:cs typeface="Calibri" pitchFamily="34" charset="-120"/>
              </a:rPr>
              <a:t>Pure-Fireworks fallback ships behind a single switch.</a:t>
            </a:r>
            <a:endParaRPr lang="en-US" sz="1300" dirty="0"/>
          </a:p>
        </p:txBody>
      </p:sp>
      <p:sp>
        <p:nvSpPr>
          <p:cNvPr id="20" name="Shape 16"/>
          <p:cNvSpPr/>
          <p:nvPr/>
        </p:nvSpPr>
        <p:spPr>
          <a:xfrm>
            <a:off x="640080" y="4837176"/>
            <a:ext cx="10881360" cy="1170432"/>
          </a:xfrm>
          <a:prstGeom prst="roundRect">
            <a:avLst>
              <a:gd name="adj" fmla="val 7031"/>
            </a:avLst>
          </a:prstGeom>
          <a:solidFill>
            <a:srgbClr val="112B45"/>
          </a:solidFill>
          <a:ln/>
          <a:effectLst>
            <a:outerShdw sx="100000" sy="100000" kx="0" ky="0" algn="bl" rotWithShape="0" blurRad="101600" dist="38100" dir="5400000">
              <a:srgbClr val="000000">
                <a:alpha val="28000"/>
              </a:srgbClr>
            </a:outerShdw>
          </a:effectLst>
        </p:spPr>
      </p:sp>
      <p:sp>
        <p:nvSpPr>
          <p:cNvPr id="21" name="Shape 17"/>
          <p:cNvSpPr/>
          <p:nvPr/>
        </p:nvSpPr>
        <p:spPr>
          <a:xfrm>
            <a:off x="914400" y="5138928"/>
            <a:ext cx="566928" cy="566928"/>
          </a:xfrm>
          <a:prstGeom prst="ellipse">
            <a:avLst/>
          </a:prstGeom>
          <a:solidFill>
            <a:srgbClr val="7A4A1F"/>
          </a:solidFill>
          <a:ln/>
          <a:effectLst>
            <a:outerShdw sx="100000" sy="100000" kx="0" ky="0" algn="bl" rotWithShape="0" blurRad="101600" dist="38100" dir="5400000">
              <a:srgbClr val="000000">
                <a:alpha val="28000"/>
              </a:srgbClr>
            </a:outerShdw>
          </a:effectLst>
        </p:spPr>
      </p:sp>
      <p:pic>
        <p:nvPicPr>
          <p:cNvPr id="22" name="Image 2" descr="preencoded.png">    </p:cNvPr>
          <p:cNvPicPr>
            <a:picLocks noChangeAspect="1"/>
          </p:cNvPicPr>
          <p:nvPr/>
        </p:nvPicPr>
        <p:blipFill>
          <a:blip r:embed="rId3"/>
          <a:stretch>
            <a:fillRect/>
          </a:stretch>
        </p:blipFill>
        <p:spPr>
          <a:xfrm>
            <a:off x="1061801" y="5286329"/>
            <a:ext cx="272125" cy="272125"/>
          </a:xfrm>
          <a:prstGeom prst="rect">
            <a:avLst/>
          </a:prstGeom>
        </p:spPr>
      </p:pic>
      <p:sp>
        <p:nvSpPr>
          <p:cNvPr id="23" name="Text 18"/>
          <p:cNvSpPr/>
          <p:nvPr/>
        </p:nvSpPr>
        <p:spPr>
          <a:xfrm>
            <a:off x="1691640" y="5038344"/>
            <a:ext cx="45720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Exact model list</a:t>
            </a:r>
            <a:endParaRPr lang="en-US" sz="1700" dirty="0"/>
          </a:p>
        </p:txBody>
      </p:sp>
      <p:sp>
        <p:nvSpPr>
          <p:cNvPr id="24" name="Text 19"/>
          <p:cNvSpPr/>
          <p:nvPr/>
        </p:nvSpPr>
        <p:spPr>
          <a:xfrm>
            <a:off x="1709928" y="5495544"/>
            <a:ext cx="4572000" cy="457200"/>
          </a:xfrm>
          <a:prstGeom prst="rect">
            <a:avLst/>
          </a:prstGeom>
          <a:noFill/>
          <a:ln/>
        </p:spPr>
        <p:txBody>
          <a:bodyPr wrap="square" lIns="0" tIns="0" rIns="0" bIns="0" rtlCol="0" anchor="ctr"/>
          <a:lstStyle/>
          <a:p>
            <a:pPr indent="0" marL="0">
              <a:buNone/>
            </a:pPr>
            <a:r>
              <a:rPr lang="en-US" sz="1250" dirty="0">
                <a:solidFill>
                  <a:srgbClr val="CFE8EF"/>
                </a:solidFill>
                <a:latin typeface="Calibri" pitchFamily="34" charset="0"/>
                <a:ea typeface="Calibri" pitchFamily="34" charset="-122"/>
                <a:cs typeface="Calibri" pitchFamily="34" charset="-120"/>
              </a:rPr>
              <a:t>Allowed models are revealed only on launch day.</a:t>
            </a:r>
            <a:endParaRPr lang="en-US" sz="1250" dirty="0"/>
          </a:p>
        </p:txBody>
      </p:sp>
      <p:sp>
        <p:nvSpPr>
          <p:cNvPr id="25" name="Shape 20"/>
          <p:cNvSpPr/>
          <p:nvPr/>
        </p:nvSpPr>
        <p:spPr>
          <a:xfrm>
            <a:off x="6492240" y="5020056"/>
            <a:ext cx="0" cy="804672"/>
          </a:xfrm>
          <a:prstGeom prst="line">
            <a:avLst/>
          </a:prstGeom>
          <a:noFill/>
          <a:ln w="19050">
            <a:solidFill>
              <a:srgbClr val="1C7293"/>
            </a:solidFill>
            <a:prstDash val="solid"/>
          </a:ln>
        </p:spPr>
      </p:sp>
      <p:sp>
        <p:nvSpPr>
          <p:cNvPr id="26" name="Text 21"/>
          <p:cNvSpPr/>
          <p:nvPr/>
        </p:nvSpPr>
        <p:spPr>
          <a:xfrm>
            <a:off x="6720840" y="5056632"/>
            <a:ext cx="1097280" cy="27432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HEDGE</a:t>
            </a:r>
            <a:endParaRPr lang="en-US" sz="1000" dirty="0"/>
          </a:p>
        </p:txBody>
      </p:sp>
      <p:sp>
        <p:nvSpPr>
          <p:cNvPr id="27" name="Text 22"/>
          <p:cNvSpPr/>
          <p:nvPr/>
        </p:nvSpPr>
        <p:spPr>
          <a:xfrm>
            <a:off x="6720840" y="5340096"/>
            <a:ext cx="4663440" cy="548640"/>
          </a:xfrm>
          <a:prstGeom prst="rect">
            <a:avLst/>
          </a:prstGeom>
          <a:noFill/>
          <a:ln/>
        </p:spPr>
        <p:txBody>
          <a:bodyPr wrap="square" lIns="0" tIns="0" rIns="0" bIns="0" rtlCol="0" anchor="ctr"/>
          <a:lstStyle/>
          <a:p>
            <a:pPr indent="0" marL="0">
              <a:buNone/>
            </a:pPr>
            <a:r>
              <a:rPr lang="en-US" sz="1300" dirty="0">
                <a:solidFill>
                  <a:srgbClr val="7DE2D1"/>
                </a:solidFill>
                <a:latin typeface="Calibri" pitchFamily="34" charset="0"/>
                <a:ea typeface="Calibri" pitchFamily="34" charset="-122"/>
                <a:cs typeface="Calibri" pitchFamily="34" charset="-120"/>
              </a:rPr>
              <a:t>Models parsed &amp; ranked at runtime — never hardcoded.</a:t>
            </a:r>
            <a:endParaRPr lang="en-US" sz="1300" dirty="0"/>
          </a:p>
        </p:txBody>
      </p:sp>
      <p:sp>
        <p:nvSpPr>
          <p:cNvPr id="28" name="Text 23"/>
          <p:cNvSpPr/>
          <p:nvPr/>
        </p:nvSpPr>
        <p:spPr>
          <a:xfrm>
            <a:off x="11183112" y="6309360"/>
            <a:ext cx="640080" cy="274320"/>
          </a:xfrm>
          <a:prstGeom prst="rect">
            <a:avLst/>
          </a:prstGeom>
          <a:noFill/>
          <a:ln/>
        </p:spPr>
        <p:txBody>
          <a:bodyPr wrap="square" rtlCol="0" anchor="ctr"/>
          <a:lstStyle/>
          <a:p>
            <a:pPr algn="r" indent="0" marL="0">
              <a:buNone/>
            </a:pPr>
            <a:r>
              <a:rPr lang="en-US" sz="1000" dirty="0">
                <a:solidFill>
                  <a:srgbClr val="8AA6B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A2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300" b="1" spc="300" kern="0" dirty="0">
                <a:solidFill>
                  <a:srgbClr val="2EC4B6"/>
                </a:solidFill>
                <a:latin typeface="Calibri" pitchFamily="34" charset="0"/>
                <a:ea typeface="Calibri" pitchFamily="34" charset="-122"/>
                <a:cs typeface="Calibri" pitchFamily="34" charset="-120"/>
              </a:rPr>
              <a:t>THE CASE FOR THIS SUBMISSION</a:t>
            </a:r>
            <a:endParaRPr lang="en-US" sz="13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Why this wins on both scoring axes</a:t>
            </a:r>
            <a:endParaRPr lang="en-US" sz="3400" dirty="0"/>
          </a:p>
        </p:txBody>
      </p:sp>
      <p:sp>
        <p:nvSpPr>
          <p:cNvPr id="4" name="Shape 2"/>
          <p:cNvSpPr/>
          <p:nvPr/>
        </p:nvSpPr>
        <p:spPr>
          <a:xfrm>
            <a:off x="640080" y="2194560"/>
            <a:ext cx="5394960" cy="3474720"/>
          </a:xfrm>
          <a:prstGeom prst="roundRect">
            <a:avLst>
              <a:gd name="adj" fmla="val 2368"/>
            </a:avLst>
          </a:prstGeom>
          <a:solidFill>
            <a:srgbClr val="112B45"/>
          </a:solidFill>
          <a:ln/>
          <a:effectLst>
            <a:outerShdw sx="100000" sy="100000" kx="0" ky="0" algn="bl" rotWithShape="0" blurRad="101600" dist="38100" dir="5400000">
              <a:srgbClr val="000000">
                <a:alpha val="28000"/>
              </a:srgbClr>
            </a:outerShdw>
          </a:effectLst>
        </p:spPr>
      </p:sp>
      <p:sp>
        <p:nvSpPr>
          <p:cNvPr id="5" name="Shape 3"/>
          <p:cNvSpPr/>
          <p:nvPr/>
        </p:nvSpPr>
        <p:spPr>
          <a:xfrm>
            <a:off x="914400" y="2423160"/>
            <a:ext cx="566928" cy="566928"/>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6" name="Image 0" descr="preencoded.png">    </p:cNvPr>
          <p:cNvPicPr>
            <a:picLocks noChangeAspect="1"/>
          </p:cNvPicPr>
          <p:nvPr/>
        </p:nvPicPr>
        <p:blipFill>
          <a:blip r:embed="rId1"/>
          <a:stretch>
            <a:fillRect/>
          </a:stretch>
        </p:blipFill>
        <p:spPr>
          <a:xfrm>
            <a:off x="1061801" y="2570561"/>
            <a:ext cx="272125" cy="272125"/>
          </a:xfrm>
          <a:prstGeom prst="rect">
            <a:avLst/>
          </a:prstGeom>
        </p:spPr>
      </p:pic>
      <p:sp>
        <p:nvSpPr>
          <p:cNvPr id="7" name="Text 4"/>
          <p:cNvSpPr/>
          <p:nvPr/>
        </p:nvSpPr>
        <p:spPr>
          <a:xfrm>
            <a:off x="1691640" y="2450592"/>
            <a:ext cx="411480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Token axis</a:t>
            </a:r>
            <a:endParaRPr lang="en-US" sz="1900" dirty="0"/>
          </a:p>
        </p:txBody>
      </p:sp>
      <p:sp>
        <p:nvSpPr>
          <p:cNvPr id="8" name="Text 5"/>
          <p:cNvSpPr/>
          <p:nvPr/>
        </p:nvSpPr>
        <p:spPr>
          <a:xfrm>
            <a:off x="914400" y="3108960"/>
            <a:ext cx="493776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Most tasks resolve locally at zero cost</a:t>
            </a:r>
            <a:endParaRPr lang="en-US" sz="1400" dirty="0"/>
          </a:p>
        </p:txBody>
      </p:sp>
      <p:sp>
        <p:nvSpPr>
          <p:cNvPr id="9" name="Text 6"/>
          <p:cNvSpPr/>
          <p:nvPr/>
        </p:nvSpPr>
        <p:spPr>
          <a:xfrm>
            <a:off x="914400" y="3712464"/>
            <a:ext cx="493776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Remote calls only on proven failures</a:t>
            </a:r>
            <a:endParaRPr lang="en-US" sz="1400" dirty="0"/>
          </a:p>
        </p:txBody>
      </p:sp>
      <p:sp>
        <p:nvSpPr>
          <p:cNvPr id="10" name="Text 7"/>
          <p:cNvSpPr/>
          <p:nvPr/>
        </p:nvSpPr>
        <p:spPr>
          <a:xfrm>
            <a:off x="914400" y="4315968"/>
            <a:ext cx="493776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Minimal prompts, capped output, t = 0</a:t>
            </a:r>
            <a:endParaRPr lang="en-US" sz="1400" dirty="0"/>
          </a:p>
        </p:txBody>
      </p:sp>
      <p:sp>
        <p:nvSpPr>
          <p:cNvPr id="11" name="Text 8"/>
          <p:cNvSpPr/>
          <p:nvPr/>
        </p:nvSpPr>
        <p:spPr>
          <a:xfrm>
            <a:off x="914400" y="4919472"/>
            <a:ext cx="493776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Reasoning models banned — no stray tokens</a:t>
            </a:r>
            <a:endParaRPr lang="en-US" sz="1400" dirty="0"/>
          </a:p>
        </p:txBody>
      </p:sp>
      <p:sp>
        <p:nvSpPr>
          <p:cNvPr id="12" name="Shape 9"/>
          <p:cNvSpPr/>
          <p:nvPr/>
        </p:nvSpPr>
        <p:spPr>
          <a:xfrm>
            <a:off x="6263640" y="2194560"/>
            <a:ext cx="5257800" cy="3474720"/>
          </a:xfrm>
          <a:prstGeom prst="roundRect">
            <a:avLst>
              <a:gd name="adj" fmla="val 2368"/>
            </a:avLst>
          </a:prstGeom>
          <a:solidFill>
            <a:srgbClr val="112B45"/>
          </a:solidFill>
          <a:ln/>
          <a:effectLst>
            <a:outerShdw sx="100000" sy="100000" kx="0" ky="0" algn="bl" rotWithShape="0" blurRad="101600" dist="38100" dir="5400000">
              <a:srgbClr val="000000">
                <a:alpha val="28000"/>
              </a:srgbClr>
            </a:outerShdw>
          </a:effectLst>
        </p:spPr>
      </p:sp>
      <p:sp>
        <p:nvSpPr>
          <p:cNvPr id="13" name="Shape 10"/>
          <p:cNvSpPr/>
          <p:nvPr/>
        </p:nvSpPr>
        <p:spPr>
          <a:xfrm>
            <a:off x="6537960" y="2423160"/>
            <a:ext cx="566928" cy="566928"/>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14" name="Image 1" descr="preencoded.png">    </p:cNvPr>
          <p:cNvPicPr>
            <a:picLocks noChangeAspect="1"/>
          </p:cNvPicPr>
          <p:nvPr/>
        </p:nvPicPr>
        <p:blipFill>
          <a:blip r:embed="rId2"/>
          <a:stretch>
            <a:fillRect/>
          </a:stretch>
        </p:blipFill>
        <p:spPr>
          <a:xfrm>
            <a:off x="6685361" y="2570561"/>
            <a:ext cx="272125" cy="272125"/>
          </a:xfrm>
          <a:prstGeom prst="rect">
            <a:avLst/>
          </a:prstGeom>
        </p:spPr>
      </p:pic>
      <p:sp>
        <p:nvSpPr>
          <p:cNvPr id="15" name="Text 11"/>
          <p:cNvSpPr/>
          <p:nvPr/>
        </p:nvSpPr>
        <p:spPr>
          <a:xfrm>
            <a:off x="7315200" y="2450592"/>
            <a:ext cx="411480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Accuracy axis</a:t>
            </a:r>
            <a:endParaRPr lang="en-US" sz="1900" dirty="0"/>
          </a:p>
        </p:txBody>
      </p:sp>
      <p:sp>
        <p:nvSpPr>
          <p:cNvPr id="16" name="Text 12"/>
          <p:cNvSpPr/>
          <p:nvPr/>
        </p:nvSpPr>
        <p:spPr>
          <a:xfrm>
            <a:off x="6537960" y="3108960"/>
            <a:ext cx="484632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Every kept answer passed a real check</a:t>
            </a:r>
            <a:endParaRPr lang="en-US" sz="1400" dirty="0"/>
          </a:p>
        </p:txBody>
      </p:sp>
      <p:sp>
        <p:nvSpPr>
          <p:cNvPr id="17" name="Text 13"/>
          <p:cNvSpPr/>
          <p:nvPr/>
        </p:nvSpPr>
        <p:spPr>
          <a:xfrm>
            <a:off x="6537960" y="3712464"/>
            <a:ext cx="484632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Agreement guard on math &amp; logic</a:t>
            </a:r>
            <a:endParaRPr lang="en-US" sz="1400" dirty="0"/>
          </a:p>
        </p:txBody>
      </p:sp>
      <p:sp>
        <p:nvSpPr>
          <p:cNvPr id="18" name="Text 14"/>
          <p:cNvSpPr/>
          <p:nvPr/>
        </p:nvSpPr>
        <p:spPr>
          <a:xfrm>
            <a:off x="6537960" y="4315968"/>
            <a:ext cx="484632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Verified-failure escalation to strong models</a:t>
            </a:r>
            <a:endParaRPr lang="en-US" sz="1400" dirty="0"/>
          </a:p>
        </p:txBody>
      </p:sp>
      <p:sp>
        <p:nvSpPr>
          <p:cNvPr id="19" name="Text 15"/>
          <p:cNvSpPr/>
          <p:nvPr/>
        </p:nvSpPr>
        <p:spPr>
          <a:xfrm>
            <a:off x="6537960" y="4919472"/>
            <a:ext cx="4846320" cy="502920"/>
          </a:xfrm>
          <a:prstGeom prst="rect">
            <a:avLst/>
          </a:prstGeom>
          <a:noFill/>
          <a:ln/>
        </p:spPr>
        <p:txBody>
          <a:bodyPr wrap="square" lIns="0" tIns="0" rIns="0" bIns="0" rtlCol="0" anchor="ctr"/>
          <a:lstStyle/>
          <a:p>
            <a:pPr marL="177800" indent="-177800">
              <a:buSzPct val="100000"/>
              <a:buChar char="•"/>
            </a:pPr>
            <a:r>
              <a:rPr lang="en-US" sz="1400" dirty="0">
                <a:solidFill>
                  <a:srgbClr val="CFE8EF"/>
                </a:solidFill>
                <a:latin typeface="Calibri" pitchFamily="34" charset="0"/>
                <a:ea typeface="Calibri" pitchFamily="34" charset="-122"/>
                <a:cs typeface="Calibri" pitchFamily="34" charset="-120"/>
              </a:rPr>
              <a:t>Always ships valid, scoreable output</a:t>
            </a:r>
            <a:endParaRPr lang="en-US" sz="1400" dirty="0"/>
          </a:p>
        </p:txBody>
      </p:sp>
      <p:sp>
        <p:nvSpPr>
          <p:cNvPr id="20" name="Text 16"/>
          <p:cNvSpPr/>
          <p:nvPr/>
        </p:nvSpPr>
        <p:spPr>
          <a:xfrm>
            <a:off x="11183112" y="6309360"/>
            <a:ext cx="640080" cy="274320"/>
          </a:xfrm>
          <a:prstGeom prst="rect">
            <a:avLst/>
          </a:prstGeom>
          <a:noFill/>
          <a:ln/>
        </p:spPr>
        <p:txBody>
          <a:bodyPr wrap="square" rtlCol="0" anchor="ctr"/>
          <a:lstStyle/>
          <a:p>
            <a:pPr algn="r" indent="0" marL="0">
              <a:buNone/>
            </a:pPr>
            <a:r>
              <a:rPr lang="en-US" sz="1000" dirty="0">
                <a:solidFill>
                  <a:srgbClr val="8AA6B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A2F"/>
        </a:solidFill>
      </p:bgPr>
    </p:bg>
    <p:spTree>
      <p:nvGrpSpPr>
        <p:cNvPr id="1" name=""/>
        <p:cNvGrpSpPr/>
        <p:nvPr/>
      </p:nvGrpSpPr>
      <p:grpSpPr>
        <a:xfrm>
          <a:off x="0" y="0"/>
          <a:ext cx="0" cy="0"/>
          <a:chOff x="0" y="0"/>
          <a:chExt cx="0" cy="0"/>
        </a:xfrm>
      </p:grpSpPr>
      <p:sp>
        <p:nvSpPr>
          <p:cNvPr id="2" name="Shape 0"/>
          <p:cNvSpPr/>
          <p:nvPr/>
        </p:nvSpPr>
        <p:spPr>
          <a:xfrm>
            <a:off x="-1005840" y="4206240"/>
            <a:ext cx="4206240" cy="4206240"/>
          </a:xfrm>
          <a:prstGeom prst="ellipse">
            <a:avLst/>
          </a:prstGeom>
          <a:solidFill>
            <a:srgbClr val="1C7293">
              <a:alpha val="12000"/>
            </a:srgbClr>
          </a:solidFill>
          <a:ln/>
        </p:spPr>
      </p:sp>
      <p:sp>
        <p:nvSpPr>
          <p:cNvPr id="3" name="Shape 1"/>
          <p:cNvSpPr/>
          <p:nvPr/>
        </p:nvSpPr>
        <p:spPr>
          <a:xfrm>
            <a:off x="-457200" y="4754880"/>
            <a:ext cx="3108960" cy="3108960"/>
          </a:xfrm>
          <a:prstGeom prst="ellipse">
            <a:avLst/>
          </a:prstGeom>
          <a:solidFill>
            <a:srgbClr val="1C7293">
              <a:alpha val="9000"/>
            </a:srgbClr>
          </a:solidFill>
          <a:ln/>
        </p:spPr>
      </p:sp>
      <p:sp>
        <p:nvSpPr>
          <p:cNvPr id="4" name="Shape 2"/>
          <p:cNvSpPr/>
          <p:nvPr/>
        </p:nvSpPr>
        <p:spPr>
          <a:xfrm>
            <a:off x="91440" y="5303520"/>
            <a:ext cx="2011680" cy="2011680"/>
          </a:xfrm>
          <a:prstGeom prst="ellipse">
            <a:avLst/>
          </a:prstGeom>
          <a:solidFill>
            <a:srgbClr val="1C7293">
              <a:alpha val="6000"/>
            </a:srgbClr>
          </a:solidFill>
          <a:ln/>
        </p:spPr>
      </p:sp>
      <p:sp>
        <p:nvSpPr>
          <p:cNvPr id="5" name="Shape 3"/>
          <p:cNvSpPr/>
          <p:nvPr/>
        </p:nvSpPr>
        <p:spPr>
          <a:xfrm>
            <a:off x="822960" y="1371600"/>
            <a:ext cx="822960" cy="822960"/>
          </a:xfrm>
          <a:prstGeom prst="ellipse">
            <a:avLst/>
          </a:prstGeom>
          <a:solidFill>
            <a:srgbClr val="1C7293"/>
          </a:solidFill>
          <a:ln/>
          <a:effectLst>
            <a:outerShdw sx="100000" sy="100000" kx="0" ky="0" algn="bl" rotWithShape="0" blurRad="101600" dist="38100" dir="5400000">
              <a:srgbClr val="000000">
                <a:alpha val="28000"/>
              </a:srgbClr>
            </a:outerShdw>
          </a:effectLst>
        </p:spPr>
      </p:sp>
      <p:pic>
        <p:nvPicPr>
          <p:cNvPr id="6" name="Image 0" descr="preencoded.png">    </p:cNvPr>
          <p:cNvPicPr>
            <a:picLocks noChangeAspect="1"/>
          </p:cNvPicPr>
          <p:nvPr/>
        </p:nvPicPr>
        <p:blipFill>
          <a:blip r:embed="rId1"/>
          <a:stretch>
            <a:fillRect/>
          </a:stretch>
        </p:blipFill>
        <p:spPr>
          <a:xfrm>
            <a:off x="1036930" y="1585570"/>
            <a:ext cx="395021" cy="395021"/>
          </a:xfrm>
          <a:prstGeom prst="rect">
            <a:avLst/>
          </a:prstGeom>
        </p:spPr>
      </p:pic>
      <p:sp>
        <p:nvSpPr>
          <p:cNvPr id="7" name="Text 4"/>
          <p:cNvSpPr/>
          <p:nvPr/>
        </p:nvSpPr>
        <p:spPr>
          <a:xfrm>
            <a:off x="777240" y="2468880"/>
            <a:ext cx="10607040" cy="146304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Cambria" pitchFamily="34" charset="0"/>
                <a:ea typeface="Cambria" pitchFamily="34" charset="-122"/>
                <a:cs typeface="Cambria" pitchFamily="34" charset="-120"/>
              </a:rPr>
              <a:t>Treat the leaderboard for what it</a:t>
            </a:r>
            <a:endParaRPr lang="en-US" sz="3800" dirty="0"/>
          </a:p>
          <a:p>
            <a:pPr indent="0" marL="0">
              <a:lnSpc>
                <a:spcPct val="100000"/>
              </a:lnSpc>
              <a:buNone/>
            </a:pPr>
            <a:r>
              <a:rPr lang="en-US" sz="3800" b="1" dirty="0">
                <a:solidFill>
                  <a:srgbClr val="FFFFFF"/>
                </a:solidFill>
                <a:latin typeface="Cambria" pitchFamily="34" charset="0"/>
                <a:ea typeface="Cambria" pitchFamily="34" charset="-122"/>
                <a:cs typeface="Cambria" pitchFamily="34" charset="-120"/>
              </a:rPr>
              <a:t>actually measures.</a:t>
            </a:r>
            <a:endParaRPr lang="en-US" sz="3800" dirty="0"/>
          </a:p>
        </p:txBody>
      </p:sp>
      <p:sp>
        <p:nvSpPr>
          <p:cNvPr id="8" name="Text 5"/>
          <p:cNvSpPr/>
          <p:nvPr/>
        </p:nvSpPr>
        <p:spPr>
          <a:xfrm>
            <a:off x="795528" y="4114800"/>
            <a:ext cx="10241280" cy="1097280"/>
          </a:xfrm>
          <a:prstGeom prst="rect">
            <a:avLst/>
          </a:prstGeom>
          <a:noFill/>
          <a:ln/>
        </p:spPr>
        <p:txBody>
          <a:bodyPr wrap="square" lIns="0" tIns="0" rIns="0" bIns="0" rtlCol="0" anchor="ctr"/>
          <a:lstStyle/>
          <a:p>
            <a:pPr indent="0" marL="0">
              <a:buNone/>
            </a:pPr>
            <a:r>
              <a:rPr lang="en-US" sz="1700" dirty="0">
                <a:solidFill>
                  <a:srgbClr val="CFE8EF"/>
                </a:solidFill>
                <a:latin typeface="Calibri" pitchFamily="34" charset="0"/>
                <a:ea typeface="Calibri" pitchFamily="34" charset="-122"/>
                <a:cs typeface="Calibri" pitchFamily="34" charset="-120"/>
              </a:rPr>
              <a:t>Answer everything you can prove correct on a free local model. Escalate only verified failures. Guard the accuracy gate where it's most likely to break. Stay robust to an environment you can't see in advance.</a:t>
            </a:r>
            <a:endParaRPr lang="en-US" sz="1700" dirty="0"/>
          </a:p>
        </p:txBody>
      </p:sp>
      <p:sp>
        <p:nvSpPr>
          <p:cNvPr id="9" name="Text 6"/>
          <p:cNvSpPr/>
          <p:nvPr/>
        </p:nvSpPr>
        <p:spPr>
          <a:xfrm>
            <a:off x="795528" y="5852160"/>
            <a:ext cx="10607040" cy="365760"/>
          </a:xfrm>
          <a:prstGeom prst="rect">
            <a:avLst/>
          </a:prstGeom>
          <a:noFill/>
          <a:ln/>
        </p:spPr>
        <p:txBody>
          <a:bodyPr wrap="square" lIns="0" tIns="0" rIns="0" bIns="0" rtlCol="0" anchor="ctr"/>
          <a:lstStyle/>
          <a:p>
            <a:pPr indent="0" marL="0">
              <a:buNone/>
            </a:pPr>
            <a:r>
              <a:rPr lang="en-US" sz="1300" i="1" dirty="0">
                <a:solidFill>
                  <a:srgbClr val="8AA6B8"/>
                </a:solidFill>
                <a:latin typeface="Calibri" pitchFamily="34" charset="0"/>
                <a:ea typeface="Calibri" pitchFamily="34" charset="-122"/>
                <a:cs typeface="Calibri" pitchFamily="34" charset="-120"/>
              </a:rPr>
              <a:t>Hybrid Token-Efficient Routing Agent  ·  AMD Developer Hackathon ACT II  ·  Track 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Token-Efficient Routing Agent</dc:title>
  <dc:subject>PptxGenJS Presentation</dc:subject>
  <dc:creator>Abrar Ahnaf</dc:creator>
  <cp:lastModifiedBy>Abrar Ahnaf</cp:lastModifiedBy>
  <cp:revision>1</cp:revision>
  <dcterms:created xsi:type="dcterms:W3CDTF">2026-07-08T14:17:43Z</dcterms:created>
  <dcterms:modified xsi:type="dcterms:W3CDTF">2026-07-08T14:17:43Z</dcterms:modified>
</cp:coreProperties>
</file>